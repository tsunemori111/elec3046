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303" r:id="rId3"/>
    <p:sldId id="257" r:id="rId4"/>
    <p:sldId id="279" r:id="rId5"/>
    <p:sldId id="319" r:id="rId6"/>
    <p:sldId id="320" r:id="rId7"/>
    <p:sldId id="321" r:id="rId8"/>
    <p:sldId id="322" r:id="rId9"/>
    <p:sldId id="324" r:id="rId1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6084"/>
    <a:srgbClr val="5B9BD5"/>
    <a:srgbClr val="0066FF"/>
    <a:srgbClr val="66FF33"/>
    <a:srgbClr val="136489"/>
    <a:srgbClr val="0000FF"/>
    <a:srgbClr val="77AC30"/>
    <a:srgbClr val="8C2510"/>
    <a:srgbClr val="146489"/>
    <a:srgbClr val="0485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1" autoAdjust="0"/>
    <p:restoredTop sz="91320" autoAdjust="0"/>
  </p:normalViewPr>
  <p:slideViewPr>
    <p:cSldViewPr snapToGrid="0" showGuides="1">
      <p:cViewPr varScale="1">
        <p:scale>
          <a:sx n="113" d="100"/>
          <a:sy n="113" d="100"/>
        </p:scale>
        <p:origin x="14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12F1BA-1908-4A7E-BBEE-E72975F76EC2}" type="datetimeFigureOut">
              <a:rPr lang="zh-CN" altLang="en-US" smtClean="0"/>
              <a:t>2020/5/15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3450E8-27CC-4BAE-9324-D32714B89B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747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450E8-27CC-4BAE-9324-D32714B89B9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620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450E8-27CC-4BAE-9324-D32714B89B9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858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3450E8-27CC-4BAE-9324-D32714B89B9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287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8170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5" r="5534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841651"/>
            <a:ext cx="3505200" cy="3009898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6505575"/>
            <a:ext cx="9144000" cy="352424"/>
          </a:xfrm>
          <a:prstGeom prst="rect">
            <a:avLst/>
          </a:prstGeom>
          <a:solidFill>
            <a:srgbClr val="1260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4236719" y="6085400"/>
            <a:ext cx="670562" cy="666044"/>
            <a:chOff x="4095750" y="6093130"/>
            <a:chExt cx="786191" cy="780896"/>
          </a:xfrm>
        </p:grpSpPr>
        <p:sp>
          <p:nvSpPr>
            <p:cNvPr id="13" name="椭圆 12"/>
            <p:cNvSpPr/>
            <p:nvPr userDrawn="1"/>
          </p:nvSpPr>
          <p:spPr>
            <a:xfrm>
              <a:off x="4095750" y="6093130"/>
              <a:ext cx="786191" cy="780896"/>
            </a:xfrm>
            <a:prstGeom prst="ellipse">
              <a:avLst/>
            </a:prstGeom>
            <a:solidFill>
              <a:srgbClr val="E7E7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78905" y="6217433"/>
              <a:ext cx="619880" cy="53228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9645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383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8215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4236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6465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3542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606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290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772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20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AABD2B-259A-4321-AF32-8E6A25AC5D3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311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0" Type="http://schemas.openxmlformats.org/officeDocument/2006/relationships/image" Target="../media/image116.png"/><Relationship Id="rId85" Type="http://schemas.openxmlformats.org/officeDocument/2006/relationships/image" Target="../media/image121.png"/><Relationship Id="rId93" Type="http://schemas.openxmlformats.org/officeDocument/2006/relationships/image" Target="../media/image129.png"/><Relationship Id="rId3" Type="http://schemas.openxmlformats.org/officeDocument/2006/relationships/image" Target="../media/image6.png"/><Relationship Id="rId76" Type="http://schemas.openxmlformats.org/officeDocument/2006/relationships/image" Target="../media/image112.png"/><Relationship Id="rId84" Type="http://schemas.openxmlformats.org/officeDocument/2006/relationships/image" Target="../media/image120.png"/><Relationship Id="rId89" Type="http://schemas.openxmlformats.org/officeDocument/2006/relationships/image" Target="../media/image125.png"/><Relationship Id="rId97" Type="http://schemas.openxmlformats.org/officeDocument/2006/relationships/image" Target="../media/image7.png"/><Relationship Id="rId92" Type="http://schemas.openxmlformats.org/officeDocument/2006/relationships/image" Target="../media/image128.png"/><Relationship Id="rId2" Type="http://schemas.openxmlformats.org/officeDocument/2006/relationships/notesSlide" Target="../notesSlides/notesSlide3.xml"/><Relationship Id="rId83" Type="http://schemas.openxmlformats.org/officeDocument/2006/relationships/image" Target="../media/image119.png"/><Relationship Id="rId88" Type="http://schemas.openxmlformats.org/officeDocument/2006/relationships/image" Target="../media/image124.png"/><Relationship Id="rId91" Type="http://schemas.openxmlformats.org/officeDocument/2006/relationships/image" Target="../media/image127.png"/><Relationship Id="rId96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79" Type="http://schemas.openxmlformats.org/officeDocument/2006/relationships/image" Target="../media/image115.png"/><Relationship Id="rId87" Type="http://schemas.openxmlformats.org/officeDocument/2006/relationships/image" Target="../media/image123.png"/><Relationship Id="rId82" Type="http://schemas.openxmlformats.org/officeDocument/2006/relationships/image" Target="../media/image118.png"/><Relationship Id="rId90" Type="http://schemas.openxmlformats.org/officeDocument/2006/relationships/image" Target="../media/image126.png"/><Relationship Id="rId78" Type="http://schemas.openxmlformats.org/officeDocument/2006/relationships/image" Target="../media/image114.png"/><Relationship Id="rId81" Type="http://schemas.openxmlformats.org/officeDocument/2006/relationships/image" Target="../media/image117.png"/><Relationship Id="rId86" Type="http://schemas.openxmlformats.org/officeDocument/2006/relationships/image" Target="../media/image122.png"/><Relationship Id="rId77" Type="http://schemas.openxmlformats.org/officeDocument/2006/relationships/image" Target="../media/image113.png"/></Relationships>
</file>

<file path=ppt/slides/_rels/slide5.xml.rels><?xml version="1.0" encoding="UTF-8" standalone="yes"?>
<Relationships xmlns="http://schemas.openxmlformats.org/package/2006/relationships"><Relationship Id="rId72" Type="http://schemas.openxmlformats.org/officeDocument/2006/relationships/image" Target="../media/image202.png"/><Relationship Id="rId55" Type="http://schemas.openxmlformats.org/officeDocument/2006/relationships/image" Target="../media/image186.png"/><Relationship Id="rId63" Type="http://schemas.openxmlformats.org/officeDocument/2006/relationships/image" Target="../media/image194.png"/><Relationship Id="rId68" Type="http://schemas.openxmlformats.org/officeDocument/2006/relationships/image" Target="../media/image198.png"/><Relationship Id="rId59" Type="http://schemas.openxmlformats.org/officeDocument/2006/relationships/image" Target="../media/image190.png"/><Relationship Id="rId67" Type="http://schemas.openxmlformats.org/officeDocument/2006/relationships/image" Target="../media/image197.png"/><Relationship Id="rId71" Type="http://schemas.openxmlformats.org/officeDocument/2006/relationships/image" Target="../media/image201.png"/><Relationship Id="rId2" Type="http://schemas.openxmlformats.org/officeDocument/2006/relationships/image" Target="../media/image8.png"/><Relationship Id="rId54" Type="http://schemas.openxmlformats.org/officeDocument/2006/relationships/image" Target="../media/image185.png"/><Relationship Id="rId62" Type="http://schemas.openxmlformats.org/officeDocument/2006/relationships/image" Target="../media/image193.png"/><Relationship Id="rId70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3" Type="http://schemas.openxmlformats.org/officeDocument/2006/relationships/image" Target="../media/image184.png"/><Relationship Id="rId58" Type="http://schemas.openxmlformats.org/officeDocument/2006/relationships/image" Target="../media/image189.png"/><Relationship Id="rId66" Type="http://schemas.openxmlformats.org/officeDocument/2006/relationships/image" Target="../media/image9.png"/><Relationship Id="rId57" Type="http://schemas.openxmlformats.org/officeDocument/2006/relationships/image" Target="../media/image188.png"/><Relationship Id="rId61" Type="http://schemas.openxmlformats.org/officeDocument/2006/relationships/image" Target="../media/image192.png"/><Relationship Id="rId52" Type="http://schemas.openxmlformats.org/officeDocument/2006/relationships/image" Target="../media/image183.png"/><Relationship Id="rId60" Type="http://schemas.openxmlformats.org/officeDocument/2006/relationships/image" Target="../media/image191.png"/><Relationship Id="rId65" Type="http://schemas.openxmlformats.org/officeDocument/2006/relationships/image" Target="../media/image196.png"/><Relationship Id="rId73" Type="http://schemas.openxmlformats.org/officeDocument/2006/relationships/image" Target="../media/image203.png"/><Relationship Id="rId56" Type="http://schemas.openxmlformats.org/officeDocument/2006/relationships/image" Target="../media/image187.png"/><Relationship Id="rId64" Type="http://schemas.openxmlformats.org/officeDocument/2006/relationships/image" Target="../media/image195.png"/><Relationship Id="rId69" Type="http://schemas.openxmlformats.org/officeDocument/2006/relationships/image" Target="../media/image199.png"/></Relationships>
</file>

<file path=ppt/slides/_rels/slide6.xml.rels><?xml version="1.0" encoding="UTF-8" standalone="yes"?>
<Relationships xmlns="http://schemas.openxmlformats.org/package/2006/relationships"><Relationship Id="rId18" Type="http://schemas.openxmlformats.org/officeDocument/2006/relationships/image" Target="../media/image197.png"/><Relationship Id="rId72" Type="http://schemas.openxmlformats.org/officeDocument/2006/relationships/image" Target="../media/image250.png"/><Relationship Id="rId85" Type="http://schemas.openxmlformats.org/officeDocument/2006/relationships/image" Target="../media/image263.png"/><Relationship Id="rId47" Type="http://schemas.openxmlformats.org/officeDocument/2006/relationships/image" Target="../media/image225.png"/><Relationship Id="rId50" Type="http://schemas.openxmlformats.org/officeDocument/2006/relationships/image" Target="../media/image228.png"/><Relationship Id="rId68" Type="http://schemas.openxmlformats.org/officeDocument/2006/relationships/image" Target="../media/image246.png"/><Relationship Id="rId76" Type="http://schemas.openxmlformats.org/officeDocument/2006/relationships/image" Target="../media/image254.png"/><Relationship Id="rId84" Type="http://schemas.openxmlformats.org/officeDocument/2006/relationships/image" Target="../media/image262.png"/><Relationship Id="rId38" Type="http://schemas.openxmlformats.org/officeDocument/2006/relationships/image" Target="../media/image216.png"/><Relationship Id="rId46" Type="http://schemas.openxmlformats.org/officeDocument/2006/relationships/image" Target="../media/image224.png"/><Relationship Id="rId59" Type="http://schemas.openxmlformats.org/officeDocument/2006/relationships/image" Target="../media/image237.png"/><Relationship Id="rId71" Type="http://schemas.openxmlformats.org/officeDocument/2006/relationships/image" Target="../media/image249.png"/><Relationship Id="rId88" Type="http://schemas.openxmlformats.org/officeDocument/2006/relationships/image" Target="../media/image266.png"/><Relationship Id="rId29" Type="http://schemas.openxmlformats.org/officeDocument/2006/relationships/image" Target="../media/image175.png"/><Relationship Id="rId70" Type="http://schemas.openxmlformats.org/officeDocument/2006/relationships/image" Target="../media/image248.png"/><Relationship Id="rId75" Type="http://schemas.openxmlformats.org/officeDocument/2006/relationships/image" Target="../media/image253.png"/><Relationship Id="rId1" Type="http://schemas.openxmlformats.org/officeDocument/2006/relationships/slideLayout" Target="../slideLayouts/slideLayout2.xml"/><Relationship Id="rId45" Type="http://schemas.openxmlformats.org/officeDocument/2006/relationships/image" Target="../media/image223.png"/><Relationship Id="rId58" Type="http://schemas.openxmlformats.org/officeDocument/2006/relationships/image" Target="../media/image236.png"/><Relationship Id="rId74" Type="http://schemas.openxmlformats.org/officeDocument/2006/relationships/image" Target="../media/image252.png"/><Relationship Id="rId87" Type="http://schemas.openxmlformats.org/officeDocument/2006/relationships/image" Target="../media/image265.png"/><Relationship Id="rId36" Type="http://schemas.openxmlformats.org/officeDocument/2006/relationships/image" Target="../media/image214.png"/><Relationship Id="rId49" Type="http://schemas.openxmlformats.org/officeDocument/2006/relationships/image" Target="../media/image227.png"/><Relationship Id="rId61" Type="http://schemas.openxmlformats.org/officeDocument/2006/relationships/image" Target="../media/image239.png"/><Relationship Id="rId82" Type="http://schemas.openxmlformats.org/officeDocument/2006/relationships/image" Target="../media/image260.png"/><Relationship Id="rId60" Type="http://schemas.openxmlformats.org/officeDocument/2006/relationships/image" Target="../media/image238.png"/><Relationship Id="rId73" Type="http://schemas.openxmlformats.org/officeDocument/2006/relationships/image" Target="../media/image251.png"/><Relationship Id="rId81" Type="http://schemas.openxmlformats.org/officeDocument/2006/relationships/image" Target="../media/image259.png"/><Relationship Id="rId86" Type="http://schemas.openxmlformats.org/officeDocument/2006/relationships/image" Target="../media/image264.png"/><Relationship Id="rId48" Type="http://schemas.openxmlformats.org/officeDocument/2006/relationships/image" Target="../media/image226.png"/><Relationship Id="rId69" Type="http://schemas.openxmlformats.org/officeDocument/2006/relationships/image" Target="../media/image247.png"/><Relationship Id="rId77" Type="http://schemas.openxmlformats.org/officeDocument/2006/relationships/image" Target="../media/image255.png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91.png"/><Relationship Id="rId51" Type="http://schemas.openxmlformats.org/officeDocument/2006/relationships/image" Target="../media/image316.png"/><Relationship Id="rId47" Type="http://schemas.openxmlformats.org/officeDocument/2006/relationships/image" Target="../media/image312.png"/><Relationship Id="rId50" Type="http://schemas.openxmlformats.org/officeDocument/2006/relationships/image" Target="../media/image315.png"/><Relationship Id="rId25" Type="http://schemas.openxmlformats.org/officeDocument/2006/relationships/image" Target="../media/image290.png"/><Relationship Id="rId33" Type="http://schemas.openxmlformats.org/officeDocument/2006/relationships/image" Target="../media/image298.png"/><Relationship Id="rId46" Type="http://schemas.openxmlformats.org/officeDocument/2006/relationships/image" Target="../media/image311.png"/><Relationship Id="rId59" Type="http://schemas.openxmlformats.org/officeDocument/2006/relationships/image" Target="../media/image324.png"/><Relationship Id="rId2" Type="http://schemas.openxmlformats.org/officeDocument/2006/relationships/image" Target="../media/image10.png"/><Relationship Id="rId29" Type="http://schemas.openxmlformats.org/officeDocument/2006/relationships/image" Target="../media/image294.png"/><Relationship Id="rId54" Type="http://schemas.openxmlformats.org/officeDocument/2006/relationships/image" Target="../media/image319.png"/><Relationship Id="rId1" Type="http://schemas.openxmlformats.org/officeDocument/2006/relationships/slideLayout" Target="../slideLayouts/slideLayout2.xml"/><Relationship Id="rId32" Type="http://schemas.openxmlformats.org/officeDocument/2006/relationships/image" Target="../media/image11.png"/><Relationship Id="rId45" Type="http://schemas.openxmlformats.org/officeDocument/2006/relationships/image" Target="../media/image310.png"/><Relationship Id="rId53" Type="http://schemas.openxmlformats.org/officeDocument/2006/relationships/image" Target="../media/image318.png"/><Relationship Id="rId58" Type="http://schemas.openxmlformats.org/officeDocument/2006/relationships/image" Target="../media/image323.png"/><Relationship Id="rId28" Type="http://schemas.openxmlformats.org/officeDocument/2006/relationships/image" Target="../media/image293.png"/><Relationship Id="rId49" Type="http://schemas.openxmlformats.org/officeDocument/2006/relationships/image" Target="../media/image314.png"/><Relationship Id="rId57" Type="http://schemas.openxmlformats.org/officeDocument/2006/relationships/image" Target="../media/image322.png"/><Relationship Id="rId31" Type="http://schemas.openxmlformats.org/officeDocument/2006/relationships/image" Target="../media/image296.png"/><Relationship Id="rId52" Type="http://schemas.openxmlformats.org/officeDocument/2006/relationships/image" Target="../media/image317.png"/><Relationship Id="rId60" Type="http://schemas.openxmlformats.org/officeDocument/2006/relationships/image" Target="../media/image325.png"/><Relationship Id="rId27" Type="http://schemas.openxmlformats.org/officeDocument/2006/relationships/image" Target="../media/image292.png"/><Relationship Id="rId30" Type="http://schemas.openxmlformats.org/officeDocument/2006/relationships/image" Target="../media/image295.png"/><Relationship Id="rId48" Type="http://schemas.openxmlformats.org/officeDocument/2006/relationships/image" Target="../media/image3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>
          <a:xfrm>
            <a:off x="0" y="3782907"/>
            <a:ext cx="9144000" cy="3064933"/>
          </a:xfrm>
          <a:prstGeom prst="rect">
            <a:avLst/>
          </a:prstGeom>
          <a:solidFill>
            <a:srgbClr val="1364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0" y="3764096"/>
            <a:ext cx="9144000" cy="57941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3514858" y="2758290"/>
            <a:ext cx="2057400" cy="20574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5002611"/>
            <a:ext cx="6858000" cy="454396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杨彦甫</a:t>
            </a:r>
          </a:p>
        </p:txBody>
      </p:sp>
      <p:sp>
        <p:nvSpPr>
          <p:cNvPr id="4" name="矩形 3"/>
          <p:cNvSpPr/>
          <p:nvPr/>
        </p:nvSpPr>
        <p:spPr>
          <a:xfrm>
            <a:off x="3633653" y="596358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2020</a:t>
            </a:r>
            <a:r>
              <a:rPr lang="zh-CN" altLang="en-US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年</a:t>
            </a:r>
            <a:r>
              <a:rPr lang="en-US" altLang="zh-CN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05</a:t>
            </a:r>
            <a:r>
              <a:rPr lang="zh-CN" altLang="en-US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月</a:t>
            </a:r>
            <a:r>
              <a:rPr lang="en-US" altLang="zh-CN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14</a:t>
            </a:r>
            <a:r>
              <a:rPr lang="zh-CN" altLang="en-US" dirty="0" smtClean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日</a:t>
            </a:r>
            <a:endParaRPr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DFKai-SB" panose="03000509000000000000" pitchFamily="65" charset="-12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33549" y="5538076"/>
            <a:ext cx="56007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200"/>
              </a:spcBef>
            </a:pP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哈尔滨工业大学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深圳</a:t>
            </a:r>
            <a:r>
              <a:rPr lang="en-US" altLang="zh-CN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)  </a:t>
            </a:r>
            <a:r>
              <a:rPr lang="zh-CN" altLang="en-US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  <a:sym typeface="DFKai-SB" panose="03000509000000000000" pitchFamily="65" charset="-120"/>
              </a:rPr>
              <a:t>电子与信息工程学院</a:t>
            </a:r>
            <a:endParaRPr lang="en-US" altLang="zh-CN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  <a:sym typeface="DFKai-SB" panose="03000509000000000000" pitchFamily="65" charset="-12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142067" y="957799"/>
            <a:ext cx="4783666" cy="76944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dist"/>
            <a:r>
              <a:rPr lang="en-US" altLang="zh-CN" sz="4400" b="1" dirty="0" smtClean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4400" b="1" dirty="0" smtClean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教学比赛</a:t>
            </a:r>
            <a:endParaRPr lang="zh-CN" altLang="en-US" sz="4400" b="1" dirty="0">
              <a:solidFill>
                <a:srgbClr val="136489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94933" y="1870948"/>
            <a:ext cx="5401733" cy="769441"/>
          </a:xfrm>
          <a:prstGeom prst="rect">
            <a:avLst/>
          </a:prstGeom>
          <a:solidFill>
            <a:srgbClr val="136489"/>
          </a:solidFill>
          <a:ln w="19050">
            <a:noFill/>
          </a:ln>
        </p:spPr>
        <p:txBody>
          <a:bodyPr wrap="square">
            <a:spAutoFit/>
          </a:bodyPr>
          <a:lstStyle/>
          <a:p>
            <a:pPr lvl="0" algn="dist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</a:t>
            </a:r>
            <a:r>
              <a:rPr lang="zh-CN" altLang="en-US" sz="4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接收机灵敏度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242" y="2921660"/>
            <a:ext cx="1797316" cy="154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971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28650" y="1825625"/>
            <a:ext cx="5409079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mtClean="0">
                <a:latin typeface="黑体" panose="02010609060101010101" pitchFamily="49" charset="-122"/>
                <a:ea typeface="黑体" panose="02010609060101010101" pitchFamily="49" charset="-122"/>
              </a:rPr>
              <a:t>内容</a:t>
            </a:r>
            <a:r>
              <a:rPr lang="zh-CN" altLang="en-US" sz="2400" smtClean="0">
                <a:latin typeface="黑体" panose="02010609060101010101" pitchFamily="49" charset="-122"/>
                <a:ea typeface="黑体" panose="02010609060101010101" pitchFamily="49" charset="-122"/>
              </a:rPr>
              <a:t>：学科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知识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交叉</a:t>
            </a:r>
            <a:endParaRPr lang="en-US" altLang="zh-CN" sz="240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①</a:t>
            </a: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 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光电子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物理效应、器件、光电技术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]</a:t>
            </a:r>
            <a:endParaRPr lang="en-US" altLang="zh-CN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latin typeface="仿宋" panose="02010609060101010101" pitchFamily="49" charset="-122"/>
                <a:ea typeface="仿宋" panose="02010609060101010101" pitchFamily="49" charset="-122"/>
              </a:rPr>
              <a:t>②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 通信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[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信号、信道、检测与信号处理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]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）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目标：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构建</a:t>
            </a:r>
            <a:r>
              <a:rPr lang="zh-CN" altLang="en-US" sz="2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</a:t>
            </a:r>
            <a:r>
              <a:rPr lang="zh-CN" altLang="en-US" sz="2400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链条</a:t>
            </a:r>
            <a:r>
              <a:rPr lang="zh-CN" altLang="en-US" sz="2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知识体系</a:t>
            </a:r>
            <a:endParaRPr lang="en-US" altLang="zh-CN" sz="2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物理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-&gt;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建模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-&gt;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仿真</a:t>
            </a:r>
            <a:r>
              <a:rPr lang="en-US" altLang="zh-CN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-&gt;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系统设计与优化</a:t>
            </a:r>
            <a:endParaRPr lang="en-US" altLang="zh-CN" sz="20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培养具备</a:t>
            </a:r>
            <a:r>
              <a:rPr lang="zh-CN" altLang="en-US" sz="2000" dirty="0" smtClean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综合知识</a:t>
            </a:r>
            <a:r>
              <a:rPr lang="zh-CN" altLang="en-US" sz="20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的新工科专业人才</a:t>
            </a:r>
            <a:endParaRPr lang="zh-CN" altLang="en-US" sz="20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现代光通信系统（</a:t>
            </a:r>
            <a:r>
              <a:rPr lang="zh-CN" altLang="en-US" sz="36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研究生课程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9890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109"/>
          <p:cNvSpPr>
            <a:spLocks/>
          </p:cNvSpPr>
          <p:nvPr/>
        </p:nvSpPr>
        <p:spPr bwMode="auto">
          <a:xfrm>
            <a:off x="1810502" y="954088"/>
            <a:ext cx="76200" cy="5453614"/>
          </a:xfrm>
          <a:custGeom>
            <a:avLst/>
            <a:gdLst>
              <a:gd name="T0" fmla="*/ 0 w 72000"/>
              <a:gd name="T1" fmla="*/ 0 h 5904140"/>
              <a:gd name="T2" fmla="*/ 80621 w 72000"/>
              <a:gd name="T3" fmla="*/ 0 h 5904140"/>
              <a:gd name="T4" fmla="*/ 80621 w 72000"/>
              <a:gd name="T5" fmla="*/ 5902316 h 5904140"/>
              <a:gd name="T6" fmla="*/ 0 w 72000"/>
              <a:gd name="T7" fmla="*/ 5902316 h 5904140"/>
              <a:gd name="T8" fmla="*/ 0 w 72000"/>
              <a:gd name="T9" fmla="*/ 0 h 59041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2000" h="5904140">
                <a:moveTo>
                  <a:pt x="0" y="0"/>
                </a:moveTo>
                <a:lnTo>
                  <a:pt x="72000" y="0"/>
                </a:lnTo>
                <a:lnTo>
                  <a:pt x="72000" y="5904140"/>
                </a:lnTo>
                <a:lnTo>
                  <a:pt x="0" y="5904140"/>
                </a:lnTo>
                <a:lnTo>
                  <a:pt x="0" y="0"/>
                </a:lnTo>
                <a:close/>
              </a:path>
            </a:pathLst>
          </a:custGeom>
          <a:solidFill>
            <a:srgbClr val="126084"/>
          </a:solidFill>
          <a:ln>
            <a:noFill/>
          </a:ln>
          <a:effectLst>
            <a:outerShdw sy="23000" kx="1199993" algn="br" rotWithShape="0">
              <a:srgbClr val="000000">
                <a:alpha val="6998"/>
              </a:srgbClr>
            </a:outerShdw>
          </a:effec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21" name="等腰三角形 137"/>
          <p:cNvSpPr>
            <a:spLocks noChangeArrowheads="1"/>
          </p:cNvSpPr>
          <p:nvPr/>
        </p:nvSpPr>
        <p:spPr bwMode="auto">
          <a:xfrm rot="5400000">
            <a:off x="1958291" y="3218992"/>
            <a:ext cx="317197" cy="273095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178391" y="232107"/>
            <a:ext cx="1303020" cy="1303020"/>
          </a:xfrm>
          <a:prstGeom prst="ellipse">
            <a:avLst/>
          </a:prstGeom>
          <a:solidFill>
            <a:srgbClr val="126084"/>
          </a:solidFill>
          <a:ln w="762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380267" y="394995"/>
            <a:ext cx="9334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12" name="文本框 22"/>
          <p:cNvSpPr txBox="1">
            <a:spLocks noChangeArrowheads="1"/>
          </p:cNvSpPr>
          <p:nvPr/>
        </p:nvSpPr>
        <p:spPr bwMode="auto">
          <a:xfrm>
            <a:off x="2453354" y="1844675"/>
            <a:ext cx="3380405" cy="65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光接收机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</a:t>
            </a: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噪声分析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13"/>
          <p:cNvSpPr>
            <a:spLocks noChangeArrowheads="1"/>
          </p:cNvSpPr>
          <p:nvPr/>
        </p:nvSpPr>
        <p:spPr bwMode="auto">
          <a:xfrm>
            <a:off x="1637464" y="3146928"/>
            <a:ext cx="419057" cy="417860"/>
          </a:xfrm>
          <a:prstGeom prst="ellipse">
            <a:avLst/>
          </a:prstGeom>
          <a:solidFill>
            <a:srgbClr val="1260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</a:t>
            </a:r>
            <a:endParaRPr lang="zh-CN" altLang="en-US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4" name="文本框 114"/>
          <p:cNvSpPr txBox="1">
            <a:spLocks noChangeArrowheads="1"/>
          </p:cNvSpPr>
          <p:nvPr/>
        </p:nvSpPr>
        <p:spPr bwMode="auto">
          <a:xfrm>
            <a:off x="2453354" y="3029443"/>
            <a:ext cx="2477233" cy="652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接收机灵敏度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20"/>
          <p:cNvSpPr txBox="1">
            <a:spLocks noChangeArrowheads="1"/>
          </p:cNvSpPr>
          <p:nvPr/>
        </p:nvSpPr>
        <p:spPr bwMode="auto">
          <a:xfrm>
            <a:off x="2453355" y="4229655"/>
            <a:ext cx="2728245" cy="65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量子极限灵敏度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等腰三角形 137"/>
          <p:cNvSpPr>
            <a:spLocks noChangeArrowheads="1"/>
          </p:cNvSpPr>
          <p:nvPr/>
        </p:nvSpPr>
        <p:spPr bwMode="auto">
          <a:xfrm rot="5400000">
            <a:off x="1958291" y="2034222"/>
            <a:ext cx="317197" cy="273095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85"/>
          <p:cNvSpPr>
            <a:spLocks noChangeArrowheads="1"/>
          </p:cNvSpPr>
          <p:nvPr/>
        </p:nvSpPr>
        <p:spPr bwMode="auto">
          <a:xfrm>
            <a:off x="1637464" y="1962158"/>
            <a:ext cx="419057" cy="419130"/>
          </a:xfrm>
          <a:prstGeom prst="ellipse">
            <a:avLst/>
          </a:prstGeom>
          <a:solidFill>
            <a:srgbClr val="1260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</a:t>
            </a: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3" name="等腰三角形 137"/>
          <p:cNvSpPr>
            <a:spLocks noChangeArrowheads="1"/>
          </p:cNvSpPr>
          <p:nvPr/>
        </p:nvSpPr>
        <p:spPr bwMode="auto">
          <a:xfrm rot="5400000">
            <a:off x="1957465" y="4414062"/>
            <a:ext cx="317197" cy="273095"/>
          </a:xfrm>
          <a:prstGeom prst="triangle">
            <a:avLst>
              <a:gd name="adj" fmla="val 50000"/>
            </a:avLst>
          </a:prstGeom>
          <a:solidFill>
            <a:srgbClr val="FFC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en-US" sz="18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16"/>
          <p:cNvSpPr>
            <a:spLocks noChangeArrowheads="1"/>
          </p:cNvSpPr>
          <p:nvPr/>
        </p:nvSpPr>
        <p:spPr bwMode="auto">
          <a:xfrm>
            <a:off x="1637464" y="4341680"/>
            <a:ext cx="419057" cy="417860"/>
          </a:xfrm>
          <a:prstGeom prst="ellipse">
            <a:avLst/>
          </a:prstGeom>
          <a:solidFill>
            <a:srgbClr val="12608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3</a:t>
            </a:r>
            <a:endParaRPr lang="zh-CN" altLang="en-US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1553" r="34576"/>
          <a:stretch/>
        </p:blipFill>
        <p:spPr>
          <a:xfrm>
            <a:off x="5833760" y="-25400"/>
            <a:ext cx="3310240" cy="297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162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07950" y="44450"/>
            <a:ext cx="4240185" cy="884238"/>
            <a:chOff x="0" y="0"/>
            <a:chExt cx="6678" cy="1392"/>
          </a:xfrm>
        </p:grpSpPr>
        <p:sp>
          <p:nvSpPr>
            <p:cNvPr id="5" name="文本框 6"/>
            <p:cNvSpPr txBox="1">
              <a:spLocks noChangeArrowheads="1"/>
            </p:cNvSpPr>
            <p:nvPr/>
          </p:nvSpPr>
          <p:spPr bwMode="auto">
            <a:xfrm>
              <a:off x="0" y="0"/>
              <a:ext cx="2041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5200" b="1" dirty="0">
                  <a:solidFill>
                    <a:srgbClr val="136489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6" name="文本框 8"/>
            <p:cNvSpPr txBox="1">
              <a:spLocks noChangeArrowheads="1"/>
            </p:cNvSpPr>
            <p:nvPr/>
          </p:nvSpPr>
          <p:spPr bwMode="auto">
            <a:xfrm>
              <a:off x="1678" y="226"/>
              <a:ext cx="5000" cy="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300" b="1" dirty="0" smtClean="0">
                  <a:solidFill>
                    <a:srgbClr val="1364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光接收机</a:t>
              </a:r>
              <a:endParaRPr lang="zh-CN" altLang="en-US" sz="2300" b="1" dirty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MH_Text_3"/>
              <p:cNvSpPr txBox="1">
                <a:spLocks noChangeArrowheads="1"/>
              </p:cNvSpPr>
              <p:nvPr/>
            </p:nvSpPr>
            <p:spPr bwMode="auto">
              <a:xfrm>
                <a:off x="955224" y="783831"/>
                <a:ext cx="7659858" cy="801134"/>
              </a:xfrm>
              <a:prstGeom prst="rect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ts val="1800"/>
                  </a:spcBef>
                  <a:buChar char="•"/>
                  <a:defRPr sz="2000">
                    <a:solidFill>
                      <a:schemeClr val="accent1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1pPr>
                <a:lvl2pPr marL="742950" indent="-285750">
                  <a:spcBef>
                    <a:spcPct val="20000"/>
                  </a:spcBef>
                  <a:buFont typeface="Calibri" panose="020F0502020204030204" pitchFamily="34" charset="0"/>
                  <a:buChar char=" "/>
                  <a:defRPr sz="1600">
                    <a:solidFill>
                      <a:srgbClr val="7F7F7F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2pPr>
                <a:lvl3pPr marL="1143000" indent="-228600">
                  <a:spcBef>
                    <a:spcPct val="20000"/>
                  </a:spcBef>
                  <a:buFont typeface="Calibri" panose="020F0502020204030204" pitchFamily="34" charset="0"/>
                  <a:buChar char="•"/>
                  <a:defRPr sz="1600">
                    <a:solidFill>
                      <a:schemeClr val="accent1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3pPr>
                <a:lvl4pPr marL="1600200" indent="-228600">
                  <a:spcBef>
                    <a:spcPct val="20000"/>
                  </a:spcBef>
                  <a:buFont typeface="Calibri" panose="020F0502020204030204" pitchFamily="34" charset="0"/>
                  <a:buChar char="–"/>
                  <a:defRPr sz="1400">
                    <a:solidFill>
                      <a:schemeClr val="accent1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4pPr>
                <a:lvl5pPr marL="2057400" indent="-228600">
                  <a:spcBef>
                    <a:spcPct val="20000"/>
                  </a:spcBef>
                  <a:buFont typeface="Calibri" panose="020F0502020204030204" pitchFamily="34" charset="0"/>
                  <a:buChar char="»"/>
                  <a:defRPr sz="1200">
                    <a:solidFill>
                      <a:schemeClr val="accent1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Calibri" panose="020F0502020204030204" pitchFamily="34" charset="0"/>
                  <a:buChar char="»"/>
                  <a:defRPr sz="1200">
                    <a:solidFill>
                      <a:schemeClr val="accent1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Calibri" panose="020F0502020204030204" pitchFamily="34" charset="0"/>
                  <a:buChar char="»"/>
                  <a:defRPr sz="1200">
                    <a:solidFill>
                      <a:schemeClr val="accent1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Calibri" panose="020F0502020204030204" pitchFamily="34" charset="0"/>
                  <a:buChar char="»"/>
                  <a:defRPr sz="1200">
                    <a:solidFill>
                      <a:schemeClr val="accent1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Calibri" panose="020F0502020204030204" pitchFamily="34" charset="0"/>
                  <a:buChar char="»"/>
                  <a:defRPr sz="1200">
                    <a:solidFill>
                      <a:schemeClr val="accent1"/>
                    </a:solidFill>
                    <a:latin typeface="Calibri" panose="020F0502020204030204" pitchFamily="34" charset="0"/>
                    <a:ea typeface="幼圆" panose="02010509060101010101" pitchFamily="49" charset="-122"/>
                  </a:defRPr>
                </a:lvl9pPr>
              </a:lstStyle>
              <a:p>
                <a:pPr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物理场景：光预放</a:t>
                </a:r>
                <a:r>
                  <a:rPr lang="en-US" altLang="zh-CN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+</a:t>
                </a:r>
                <a:r>
                  <a:rPr lang="zh-CN" altLang="en-US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光接收机；光信号：开关键控调制</a:t>
                </a:r>
                <a:r>
                  <a:rPr lang="en-US" altLang="zh-CN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OOK</a:t>
                </a:r>
              </a:p>
              <a:p>
                <a:pPr algn="just">
                  <a:lnSpc>
                    <a:spcPct val="150000"/>
                  </a:lnSpc>
                  <a:spcBef>
                    <a:spcPts val="0"/>
                  </a:spcBef>
                  <a:buNone/>
                </a:pPr>
                <a:r>
                  <a:rPr lang="zh-CN" altLang="en-US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目标：光信号</a:t>
                </a:r>
                <a:r>
                  <a:rPr lang="en-US" altLang="zh-CN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-</a:t>
                </a:r>
                <a:r>
                  <a:rPr lang="zh-CN" altLang="en-US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光电探测</a:t>
                </a:r>
                <a:r>
                  <a:rPr lang="en-US" altLang="zh-CN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-</a:t>
                </a:r>
                <a:r>
                  <a:rPr lang="zh-CN" altLang="en-US" sz="1400" b="1" dirty="0" smtClean="0">
                    <a:solidFill>
                      <a:schemeClr val="tx1"/>
                    </a:solidFill>
                    <a:latin typeface="幼圆" panose="02010509060101010101" pitchFamily="49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电噪声分析方法，解析给出光接收机许的最低光信号功率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m:t>𝑷</m:t>
                    </m:r>
                    <m:r>
                      <a:rPr lang="en-US" altLang="zh-CN" sz="1400" b="1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sym typeface="Arial" panose="020B0604020202020204" pitchFamily="34" charset="0"/>
                      </a:rPr>
                      <m:t>𝒓𝒆𝒄</m:t>
                    </m:r>
                  </m:oMath>
                </a14:m>
                <a:endParaRPr lang="en-US" altLang="zh-CN" sz="1400" b="1" dirty="0">
                  <a:solidFill>
                    <a:srgbClr val="FF0000"/>
                  </a:solidFill>
                  <a:latin typeface="幼圆" panose="02010509060101010101" pitchFamily="49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MH_Text_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55224" y="783831"/>
                <a:ext cx="7659858" cy="801134"/>
              </a:xfrm>
              <a:prstGeom prst="rect">
                <a:avLst/>
              </a:prstGeom>
              <a:blipFill rotWithShape="0">
                <a:blip r:embed="rId3"/>
                <a:stretch>
                  <a:fillRect l="-159"/>
                </a:stretch>
              </a:blipFill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组合 48"/>
          <p:cNvGrpSpPr/>
          <p:nvPr/>
        </p:nvGrpSpPr>
        <p:grpSpPr>
          <a:xfrm>
            <a:off x="219157" y="4046135"/>
            <a:ext cx="1557067" cy="1061498"/>
            <a:chOff x="591393" y="2060488"/>
            <a:chExt cx="1557067" cy="1061498"/>
          </a:xfrm>
        </p:grpSpPr>
        <p:cxnSp>
          <p:nvCxnSpPr>
            <p:cNvPr id="130" name="直接箭头连接符 129"/>
            <p:cNvCxnSpPr/>
            <p:nvPr/>
          </p:nvCxnSpPr>
          <p:spPr>
            <a:xfrm>
              <a:off x="701857" y="2919888"/>
              <a:ext cx="1171766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接箭头连接符 132"/>
            <p:cNvCxnSpPr/>
            <p:nvPr/>
          </p:nvCxnSpPr>
          <p:spPr>
            <a:xfrm flipV="1">
              <a:off x="691583" y="2155261"/>
              <a:ext cx="0" cy="7646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等腰三角形 133"/>
            <p:cNvSpPr/>
            <p:nvPr/>
          </p:nvSpPr>
          <p:spPr>
            <a:xfrm>
              <a:off x="1225250" y="2511494"/>
              <a:ext cx="112351" cy="408394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6" name="文本框 135"/>
                <p:cNvSpPr txBox="1"/>
                <p:nvPr/>
              </p:nvSpPr>
              <p:spPr>
                <a:xfrm>
                  <a:off x="1748938" y="2752654"/>
                  <a:ext cx="3617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6" name="文本框 1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48938" y="2752654"/>
                  <a:ext cx="361766" cy="369332"/>
                </a:xfrm>
                <a:prstGeom prst="rect">
                  <a:avLst/>
                </a:prstGeom>
                <a:blipFill rotWithShape="0">
                  <a:blip r:embed="rId7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591393" y="2088223"/>
                  <a:ext cx="3858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1393" y="2088223"/>
                  <a:ext cx="385875" cy="369332"/>
                </a:xfrm>
                <a:prstGeom prst="rect">
                  <a:avLst/>
                </a:prstGeom>
                <a:blipFill rotWithShape="0">
                  <a:blip r:embed="rId7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1" name="直接箭头连接符 150"/>
            <p:cNvCxnSpPr>
              <a:endCxn id="134" idx="5"/>
            </p:cNvCxnSpPr>
            <p:nvPr/>
          </p:nvCxnSpPr>
          <p:spPr>
            <a:xfrm flipH="1">
              <a:off x="1309513" y="2299707"/>
              <a:ext cx="263572" cy="4159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文本框 151"/>
            <p:cNvSpPr txBox="1"/>
            <p:nvPr/>
          </p:nvSpPr>
          <p:spPr>
            <a:xfrm>
              <a:off x="1559837" y="2060488"/>
              <a:ext cx="588623" cy="253916"/>
            </a:xfrm>
            <a:prstGeom prst="rect">
              <a:avLst/>
            </a:prstGeom>
            <a:noFill/>
            <a:ln>
              <a:solidFill>
                <a:srgbClr val="5B9BD5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050" dirty="0" smtClean="0">
                  <a:solidFill>
                    <a:srgbClr val="5B9BD5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光信号</a:t>
              </a:r>
              <a:endParaRPr lang="zh-CN" altLang="en-US" sz="1050" dirty="0">
                <a:solidFill>
                  <a:srgbClr val="5B9BD5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14" name="组合 213"/>
          <p:cNvGrpSpPr/>
          <p:nvPr/>
        </p:nvGrpSpPr>
        <p:grpSpPr>
          <a:xfrm>
            <a:off x="2014291" y="3603471"/>
            <a:ext cx="1606095" cy="1604353"/>
            <a:chOff x="2014291" y="3603471"/>
            <a:chExt cx="1606095" cy="1604353"/>
          </a:xfrm>
        </p:grpSpPr>
        <p:cxnSp>
          <p:nvCxnSpPr>
            <p:cNvPr id="116" name="直接箭头连接符 115"/>
            <p:cNvCxnSpPr/>
            <p:nvPr/>
          </p:nvCxnSpPr>
          <p:spPr>
            <a:xfrm>
              <a:off x="2124754" y="4903350"/>
              <a:ext cx="1173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/>
            <p:cNvCxnSpPr/>
            <p:nvPr/>
          </p:nvCxnSpPr>
          <p:spPr>
            <a:xfrm flipV="1">
              <a:off x="2124754" y="4128074"/>
              <a:ext cx="0" cy="7646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等腰三角形 119"/>
            <p:cNvSpPr/>
            <p:nvPr/>
          </p:nvSpPr>
          <p:spPr>
            <a:xfrm>
              <a:off x="2639182" y="4283169"/>
              <a:ext cx="112351" cy="62018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2207229" y="4654225"/>
              <a:ext cx="938640" cy="239458"/>
            </a:xfrm>
            <a:prstGeom prst="rect">
              <a:avLst/>
            </a:prstGeom>
            <a:solidFill>
              <a:schemeClr val="bg1">
                <a:alpha val="61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文本框 127"/>
                <p:cNvSpPr txBox="1"/>
                <p:nvPr/>
              </p:nvSpPr>
              <p:spPr>
                <a:xfrm>
                  <a:off x="3172039" y="4725654"/>
                  <a:ext cx="3617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8" name="文本框 1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2039" y="4725654"/>
                  <a:ext cx="361766" cy="369332"/>
                </a:xfrm>
                <a:prstGeom prst="rect">
                  <a:avLst/>
                </a:prstGeom>
                <a:blipFill rotWithShape="0">
                  <a:blip r:embed="rId7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文本框 128"/>
                <p:cNvSpPr txBox="1"/>
                <p:nvPr/>
              </p:nvSpPr>
              <p:spPr>
                <a:xfrm>
                  <a:off x="2014291" y="4071685"/>
                  <a:ext cx="3858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129" name="文本框 1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4291" y="4071685"/>
                  <a:ext cx="385875" cy="369332"/>
                </a:xfrm>
                <a:prstGeom prst="rect">
                  <a:avLst/>
                </a:prstGeom>
                <a:blipFill rotWithShape="0">
                  <a:blip r:embed="rId7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9" name="直接箭头连接符 148"/>
            <p:cNvCxnSpPr>
              <a:stCxn id="150" idx="2"/>
            </p:cNvCxnSpPr>
            <p:nvPr/>
          </p:nvCxnSpPr>
          <p:spPr>
            <a:xfrm flipH="1">
              <a:off x="3072120" y="4018969"/>
              <a:ext cx="186629" cy="62120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本框 149"/>
            <p:cNvSpPr txBox="1"/>
            <p:nvPr/>
          </p:nvSpPr>
          <p:spPr>
            <a:xfrm>
              <a:off x="2897111" y="3603471"/>
              <a:ext cx="723275" cy="4154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放大自发</a:t>
              </a:r>
              <a:endParaRPr lang="en-US" altLang="zh-CN" sz="1000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辐射噪声</a:t>
              </a:r>
              <a:endPara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41" name="直接箭头连接符 40"/>
            <p:cNvCxnSpPr/>
            <p:nvPr/>
          </p:nvCxnSpPr>
          <p:spPr>
            <a:xfrm>
              <a:off x="2197506" y="4989384"/>
              <a:ext cx="93864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本框 42"/>
                <p:cNvSpPr txBox="1"/>
                <p:nvPr/>
              </p:nvSpPr>
              <p:spPr>
                <a:xfrm>
                  <a:off x="2515728" y="4967245"/>
                  <a:ext cx="376385" cy="2405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zh-CN" sz="1600" b="0" i="1" baseline="-25000" smtClean="0">
                            <a:latin typeface="Cambria Math" panose="02040503050406030204" pitchFamily="18" charset="0"/>
                          </a:rPr>
                          <m:t>𝑎𝑠𝑒</m:t>
                        </m:r>
                      </m:oMath>
                    </m:oMathPara>
                  </a14:m>
                  <a:endParaRPr lang="zh-CN" altLang="en-US" sz="1600" baseline="-25000" dirty="0"/>
                </a:p>
              </p:txBody>
            </p:sp>
          </mc:Choice>
          <mc:Fallback xmlns="">
            <p:sp>
              <p:nvSpPr>
                <p:cNvPr id="43" name="文本框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15728" y="4967245"/>
                  <a:ext cx="376385" cy="240579"/>
                </a:xfrm>
                <a:prstGeom prst="rect">
                  <a:avLst/>
                </a:prstGeom>
                <a:blipFill rotWithShape="0">
                  <a:blip r:embed="rId80"/>
                  <a:stretch>
                    <a:fillRect l="-14754" r="-3279" b="-1282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8" name="组合 1067"/>
          <p:cNvGrpSpPr/>
          <p:nvPr/>
        </p:nvGrpSpPr>
        <p:grpSpPr>
          <a:xfrm>
            <a:off x="2167546" y="3595171"/>
            <a:ext cx="859130" cy="1310055"/>
            <a:chOff x="2611694" y="1626048"/>
            <a:chExt cx="859130" cy="1310055"/>
          </a:xfrm>
        </p:grpSpPr>
        <p:grpSp>
          <p:nvGrpSpPr>
            <p:cNvPr id="1065" name="组合 1064"/>
            <p:cNvGrpSpPr/>
            <p:nvPr/>
          </p:nvGrpSpPr>
          <p:grpSpPr>
            <a:xfrm>
              <a:off x="2666545" y="2163200"/>
              <a:ext cx="804279" cy="772903"/>
              <a:chOff x="2586737" y="4607385"/>
              <a:chExt cx="804279" cy="772903"/>
            </a:xfrm>
          </p:grpSpPr>
          <p:sp>
            <p:nvSpPr>
              <p:cNvPr id="1051" name="流程图: 延期 1050"/>
              <p:cNvSpPr/>
              <p:nvPr/>
            </p:nvSpPr>
            <p:spPr>
              <a:xfrm rot="16200000">
                <a:off x="2680106" y="4860078"/>
                <a:ext cx="772903" cy="267518"/>
              </a:xfrm>
              <a:prstGeom prst="flowChartDelay">
                <a:avLst/>
              </a:prstGeom>
              <a:noFill/>
              <a:ln w="19050"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60" name="直接箭头连接符 1059"/>
              <p:cNvCxnSpPr/>
              <p:nvPr/>
            </p:nvCxnSpPr>
            <p:spPr>
              <a:xfrm>
                <a:off x="2742687" y="5074024"/>
                <a:ext cx="190111" cy="0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2" name="直接箭头连接符 1061"/>
              <p:cNvCxnSpPr/>
              <p:nvPr/>
            </p:nvCxnSpPr>
            <p:spPr>
              <a:xfrm flipH="1">
                <a:off x="3200317" y="5074024"/>
                <a:ext cx="190699" cy="0"/>
              </a:xfrm>
              <a:prstGeom prst="straightConnector1">
                <a:avLst/>
              </a:prstGeom>
              <a:ln w="1587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4" name="文本框 243"/>
                  <p:cNvSpPr txBox="1"/>
                  <p:nvPr/>
                </p:nvSpPr>
                <p:spPr>
                  <a:xfrm>
                    <a:off x="2586737" y="4915546"/>
                    <a:ext cx="212302" cy="2405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r>
                      <a:rPr lang="en-US" altLang="zh-CN" sz="1600" baseline="-25000" dirty="0" smtClean="0"/>
                      <a:t>o</a:t>
                    </a:r>
                    <a:endParaRPr lang="zh-CN" altLang="en-US" sz="1600" baseline="-25000" dirty="0"/>
                  </a:p>
                </p:txBody>
              </p:sp>
            </mc:Choice>
            <mc:Fallback xmlns="">
              <p:sp>
                <p:nvSpPr>
                  <p:cNvPr id="244" name="文本框 2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86737" y="4915546"/>
                    <a:ext cx="212302" cy="240579"/>
                  </a:xfrm>
                  <a:prstGeom prst="rect">
                    <a:avLst/>
                  </a:prstGeom>
                  <a:blipFill rotWithShape="0">
                    <a:blip r:embed="rId81"/>
                    <a:stretch>
                      <a:fillRect l="-35294" r="-41176" b="-47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6" name="文本框 245"/>
            <p:cNvSpPr txBox="1"/>
            <p:nvPr/>
          </p:nvSpPr>
          <p:spPr>
            <a:xfrm>
              <a:off x="2611694" y="1626048"/>
              <a:ext cx="453970" cy="415498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5B9BD5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05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带通</a:t>
              </a:r>
              <a:endParaRPr lang="en-US" altLang="zh-CN" sz="1050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zh-CN" altLang="en-US" sz="105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滤波</a:t>
              </a:r>
              <a:endParaRPr lang="en-US" altLang="zh-CN" sz="1050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1067" name="直接箭头连接符 1066"/>
            <p:cNvCxnSpPr>
              <a:stCxn id="246" idx="2"/>
            </p:cNvCxnSpPr>
            <p:nvPr/>
          </p:nvCxnSpPr>
          <p:spPr>
            <a:xfrm>
              <a:off x="2838679" y="2041546"/>
              <a:ext cx="173927" cy="2728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78" name="组合 1077"/>
          <p:cNvGrpSpPr/>
          <p:nvPr/>
        </p:nvGrpSpPr>
        <p:grpSpPr>
          <a:xfrm>
            <a:off x="3591962" y="3593364"/>
            <a:ext cx="1519514" cy="1596512"/>
            <a:chOff x="4048204" y="1615403"/>
            <a:chExt cx="1519514" cy="1596512"/>
          </a:xfrm>
        </p:grpSpPr>
        <p:cxnSp>
          <p:nvCxnSpPr>
            <p:cNvPr id="260" name="直接箭头连接符 259"/>
            <p:cNvCxnSpPr/>
            <p:nvPr/>
          </p:nvCxnSpPr>
          <p:spPr>
            <a:xfrm>
              <a:off x="4158667" y="2926985"/>
              <a:ext cx="1173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直接箭头连接符 260"/>
            <p:cNvCxnSpPr/>
            <p:nvPr/>
          </p:nvCxnSpPr>
          <p:spPr>
            <a:xfrm flipV="1">
              <a:off x="4148394" y="2162358"/>
              <a:ext cx="0" cy="7646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等腰三角形 261"/>
            <p:cNvSpPr/>
            <p:nvPr/>
          </p:nvSpPr>
          <p:spPr>
            <a:xfrm>
              <a:off x="4673095" y="2306804"/>
              <a:ext cx="112351" cy="62018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矩形 262"/>
            <p:cNvSpPr/>
            <p:nvPr/>
          </p:nvSpPr>
          <p:spPr>
            <a:xfrm>
              <a:off x="4550399" y="2686825"/>
              <a:ext cx="353965" cy="239458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4" name="文本框 263"/>
                <p:cNvSpPr txBox="1"/>
                <p:nvPr/>
              </p:nvSpPr>
              <p:spPr>
                <a:xfrm>
                  <a:off x="5205952" y="2749289"/>
                  <a:ext cx="36176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𝜆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4" name="文本框 26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5952" y="2749289"/>
                  <a:ext cx="361766" cy="369332"/>
                </a:xfrm>
                <a:prstGeom prst="rect">
                  <a:avLst/>
                </a:prstGeom>
                <a:blipFill rotWithShape="0"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/>
                <p:cNvSpPr txBox="1"/>
                <p:nvPr/>
              </p:nvSpPr>
              <p:spPr>
                <a:xfrm>
                  <a:off x="4048204" y="2095320"/>
                  <a:ext cx="3858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i="1" dirty="0"/>
                </a:p>
              </p:txBody>
            </p:sp>
          </mc:Choice>
          <mc:Fallback xmlns="">
            <p:sp>
              <p:nvSpPr>
                <p:cNvPr id="265" name="文本框 26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8204" y="2095320"/>
                  <a:ext cx="385875" cy="369332"/>
                </a:xfrm>
                <a:prstGeom prst="rect">
                  <a:avLst/>
                </a:prstGeom>
                <a:blipFill rotWithShape="0">
                  <a:blip r:embed="rId8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6" name="直接箭头连接符 265"/>
            <p:cNvCxnSpPr>
              <a:stCxn id="267" idx="2"/>
            </p:cNvCxnSpPr>
            <p:nvPr/>
          </p:nvCxnSpPr>
          <p:spPr>
            <a:xfrm flipH="1">
              <a:off x="4836083" y="2015513"/>
              <a:ext cx="260184" cy="70216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7" name="文本框 266"/>
            <p:cNvSpPr txBox="1"/>
            <p:nvPr/>
          </p:nvSpPr>
          <p:spPr>
            <a:xfrm>
              <a:off x="4747453" y="1615403"/>
              <a:ext cx="697627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000" dirty="0">
                  <a:latin typeface="黑体" panose="02010609060101010101" pitchFamily="49" charset="-122"/>
                  <a:ea typeface="黑体" panose="02010609060101010101" pitchFamily="49" charset="-122"/>
                </a:rPr>
                <a:t>带</a:t>
              </a:r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通滤波</a:t>
              </a:r>
              <a:endParaRPr lang="en-US" altLang="zh-CN" sz="1000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后的噪声</a:t>
              </a:r>
              <a:endPara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268" name="直接箭头连接符 267"/>
            <p:cNvCxnSpPr/>
            <p:nvPr/>
          </p:nvCxnSpPr>
          <p:spPr>
            <a:xfrm>
              <a:off x="4550399" y="3005004"/>
              <a:ext cx="3853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/>
                <p:cNvSpPr txBox="1"/>
                <p:nvPr/>
              </p:nvSpPr>
              <p:spPr>
                <a:xfrm>
                  <a:off x="4667572" y="2971336"/>
                  <a:ext cx="212302" cy="2405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altLang="zh-CN" sz="1600" baseline="-25000" dirty="0" smtClean="0"/>
                    <a:t>o</a:t>
                  </a:r>
                  <a:endParaRPr lang="zh-CN" altLang="en-US" sz="1600" baseline="-25000" dirty="0"/>
                </a:p>
              </p:txBody>
            </p:sp>
          </mc:Choice>
          <mc:Fallback xmlns="">
            <p:sp>
              <p:nvSpPr>
                <p:cNvPr id="269" name="文本框 2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67572" y="2971336"/>
                  <a:ext cx="212302" cy="240579"/>
                </a:xfrm>
                <a:prstGeom prst="rect">
                  <a:avLst/>
                </a:prstGeom>
                <a:blipFill rotWithShape="0">
                  <a:blip r:embed="rId84"/>
                  <a:stretch>
                    <a:fillRect l="-34286" r="-37143" b="-487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0" name="组合 229"/>
          <p:cNvGrpSpPr/>
          <p:nvPr/>
        </p:nvGrpSpPr>
        <p:grpSpPr>
          <a:xfrm>
            <a:off x="5172568" y="3807649"/>
            <a:ext cx="1260455" cy="1413449"/>
            <a:chOff x="5172568" y="3807649"/>
            <a:chExt cx="1260455" cy="1413449"/>
          </a:xfrm>
        </p:grpSpPr>
        <p:cxnSp>
          <p:nvCxnSpPr>
            <p:cNvPr id="138" name="直接箭头连接符 137"/>
            <p:cNvCxnSpPr/>
            <p:nvPr/>
          </p:nvCxnSpPr>
          <p:spPr>
            <a:xfrm>
              <a:off x="5345727" y="4909633"/>
              <a:ext cx="8523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箭头连接符 138"/>
            <p:cNvCxnSpPr/>
            <p:nvPr/>
          </p:nvCxnSpPr>
          <p:spPr>
            <a:xfrm flipV="1">
              <a:off x="5344418" y="3847522"/>
              <a:ext cx="0" cy="10621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文本框 141"/>
                <p:cNvSpPr txBox="1"/>
                <p:nvPr/>
              </p:nvSpPr>
              <p:spPr>
                <a:xfrm>
                  <a:off x="6062089" y="4695285"/>
                  <a:ext cx="3709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42" name="文本框 1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2089" y="4695285"/>
                  <a:ext cx="370934" cy="369332"/>
                </a:xfrm>
                <a:prstGeom prst="rect">
                  <a:avLst/>
                </a:prstGeom>
                <a:blipFill rotWithShape="0">
                  <a:blip r:embed="rId85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文本框 144"/>
                <p:cNvSpPr txBox="1"/>
                <p:nvPr/>
              </p:nvSpPr>
              <p:spPr>
                <a:xfrm>
                  <a:off x="5252284" y="3807649"/>
                  <a:ext cx="3858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45" name="文本框 1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52284" y="3807649"/>
                  <a:ext cx="385875" cy="369332"/>
                </a:xfrm>
                <a:prstGeom prst="rect">
                  <a:avLst/>
                </a:prstGeom>
                <a:blipFill rotWithShape="0"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1" name="文本框 280"/>
                <p:cNvSpPr txBox="1"/>
                <p:nvPr/>
              </p:nvSpPr>
              <p:spPr>
                <a:xfrm>
                  <a:off x="5172568" y="4851766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81" name="文本框 2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2568" y="4851766"/>
                  <a:ext cx="365805" cy="369332"/>
                </a:xfrm>
                <a:prstGeom prst="rect">
                  <a:avLst/>
                </a:prstGeom>
                <a:blipFill rotWithShape="0">
                  <a:blip r:embed="rId8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0" name="直角三角形 1079"/>
            <p:cNvSpPr/>
            <p:nvPr/>
          </p:nvSpPr>
          <p:spPr>
            <a:xfrm>
              <a:off x="5350076" y="4151893"/>
              <a:ext cx="85067" cy="763666"/>
            </a:xfrm>
            <a:prstGeom prst="rt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文本框 284"/>
            <p:cNvSpPr txBox="1"/>
            <p:nvPr/>
          </p:nvSpPr>
          <p:spPr>
            <a:xfrm>
              <a:off x="5909284" y="4300974"/>
              <a:ext cx="441146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拍频</a:t>
              </a:r>
              <a:endParaRPr lang="en-US" altLang="zh-CN" sz="1000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噪声</a:t>
              </a:r>
              <a:endPara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286" name="直接箭头连接符 285"/>
            <p:cNvCxnSpPr>
              <a:stCxn id="285" idx="1"/>
            </p:cNvCxnSpPr>
            <p:nvPr/>
          </p:nvCxnSpPr>
          <p:spPr>
            <a:xfrm flipH="1">
              <a:off x="5599217" y="4501029"/>
              <a:ext cx="310067" cy="26267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6" name="流程图: 过程 1085"/>
            <p:cNvSpPr/>
            <p:nvPr/>
          </p:nvSpPr>
          <p:spPr>
            <a:xfrm>
              <a:off x="5338760" y="4634392"/>
              <a:ext cx="199955" cy="281426"/>
            </a:xfrm>
            <a:prstGeom prst="flowChartProcess">
              <a:avLst/>
            </a:prstGeom>
            <a:solidFill>
              <a:schemeClr val="bg1">
                <a:lumMod val="75000"/>
                <a:alpha val="82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直角三角形 291"/>
            <p:cNvSpPr/>
            <p:nvPr/>
          </p:nvSpPr>
          <p:spPr>
            <a:xfrm>
              <a:off x="5535473" y="4634392"/>
              <a:ext cx="196952" cy="281426"/>
            </a:xfrm>
            <a:prstGeom prst="rtTriangle">
              <a:avLst/>
            </a:prstGeom>
            <a:solidFill>
              <a:schemeClr val="bg1">
                <a:lumMod val="75000"/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4" name="直接箭头连接符 293"/>
            <p:cNvCxnSpPr/>
            <p:nvPr/>
          </p:nvCxnSpPr>
          <p:spPr>
            <a:xfrm>
              <a:off x="5335753" y="4908802"/>
              <a:ext cx="3853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5" name="文本框 294"/>
                <p:cNvSpPr txBox="1"/>
                <p:nvPr/>
              </p:nvSpPr>
              <p:spPr>
                <a:xfrm>
                  <a:off x="5456967" y="4916323"/>
                  <a:ext cx="212302" cy="2405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a14:m>
                  <a:r>
                    <a:rPr lang="en-US" altLang="zh-CN" sz="1600" baseline="-25000" dirty="0" smtClean="0"/>
                    <a:t>o</a:t>
                  </a:r>
                  <a:endParaRPr lang="zh-CN" altLang="en-US" sz="1600" baseline="-25000" dirty="0"/>
                </a:p>
              </p:txBody>
            </p:sp>
          </mc:Choice>
          <mc:Fallback xmlns="">
            <p:sp>
              <p:nvSpPr>
                <p:cNvPr id="295" name="文本框 29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56967" y="4916323"/>
                  <a:ext cx="212302" cy="240579"/>
                </a:xfrm>
                <a:prstGeom prst="rect">
                  <a:avLst/>
                </a:prstGeom>
                <a:blipFill rotWithShape="0">
                  <a:blip r:embed="rId88"/>
                  <a:stretch>
                    <a:fillRect l="-31429" r="-40000" b="-4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9" name="组合 228"/>
          <p:cNvGrpSpPr/>
          <p:nvPr/>
        </p:nvGrpSpPr>
        <p:grpSpPr>
          <a:xfrm>
            <a:off x="5022889" y="3596260"/>
            <a:ext cx="1121109" cy="1314716"/>
            <a:chOff x="5022774" y="3595936"/>
            <a:chExt cx="1121109" cy="1314716"/>
          </a:xfrm>
        </p:grpSpPr>
        <p:grpSp>
          <p:nvGrpSpPr>
            <p:cNvPr id="173" name="组合 172"/>
            <p:cNvGrpSpPr/>
            <p:nvPr/>
          </p:nvGrpSpPr>
          <p:grpSpPr>
            <a:xfrm>
              <a:off x="5022774" y="4174206"/>
              <a:ext cx="673121" cy="736446"/>
              <a:chOff x="5613572" y="4817275"/>
              <a:chExt cx="673121" cy="736446"/>
            </a:xfrm>
          </p:grpSpPr>
          <p:sp>
            <p:nvSpPr>
              <p:cNvPr id="168" name="流程图: 过程 167"/>
              <p:cNvSpPr/>
              <p:nvPr/>
            </p:nvSpPr>
            <p:spPr>
              <a:xfrm>
                <a:off x="5947973" y="4833036"/>
                <a:ext cx="159776" cy="720685"/>
              </a:xfrm>
              <a:prstGeom prst="flowChartProcess">
                <a:avLst/>
              </a:prstGeom>
              <a:noFill/>
              <a:ln w="19050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21" name="直接箭头连接符 320"/>
              <p:cNvCxnSpPr/>
              <p:nvPr/>
            </p:nvCxnSpPr>
            <p:spPr>
              <a:xfrm>
                <a:off x="5848583" y="4937565"/>
                <a:ext cx="99390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4" name="直接箭头连接符 323"/>
              <p:cNvCxnSpPr/>
              <p:nvPr/>
            </p:nvCxnSpPr>
            <p:spPr>
              <a:xfrm flipH="1">
                <a:off x="6107749" y="4937565"/>
                <a:ext cx="178944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6" name="文本框 325"/>
                  <p:cNvSpPr txBox="1"/>
                  <p:nvPr/>
                </p:nvSpPr>
                <p:spPr>
                  <a:xfrm>
                    <a:off x="5613572" y="4817275"/>
                    <a:ext cx="270523" cy="2405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oMath>
                      </m:oMathPara>
                    </a14:m>
                    <a:endParaRPr lang="zh-CN" altLang="en-US" sz="1600" baseline="-25000" dirty="0"/>
                  </a:p>
                </p:txBody>
              </p:sp>
            </mc:Choice>
            <mc:Fallback xmlns="">
              <p:sp>
                <p:nvSpPr>
                  <p:cNvPr id="326" name="文本框 3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13572" y="4817275"/>
                    <a:ext cx="270523" cy="240579"/>
                  </a:xfrm>
                  <a:prstGeom prst="rect">
                    <a:avLst/>
                  </a:prstGeom>
                  <a:blipFill rotWithShape="0">
                    <a:blip r:embed="rId89"/>
                    <a:stretch>
                      <a:fillRect l="-20455" r="-27273" b="-3846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1" name="直接箭头连接符 330"/>
            <p:cNvCxnSpPr/>
            <p:nvPr/>
          </p:nvCxnSpPr>
          <p:spPr>
            <a:xfrm flipH="1">
              <a:off x="5491375" y="3935610"/>
              <a:ext cx="193717" cy="234053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文本框 333"/>
            <p:cNvSpPr txBox="1"/>
            <p:nvPr/>
          </p:nvSpPr>
          <p:spPr>
            <a:xfrm>
              <a:off x="5702737" y="3595936"/>
              <a:ext cx="441146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低通</a:t>
              </a:r>
              <a:endParaRPr lang="en-US" altLang="zh-CN" sz="1000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滤波</a:t>
              </a:r>
              <a:endPara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31" name="组合 230"/>
          <p:cNvGrpSpPr/>
          <p:nvPr/>
        </p:nvGrpSpPr>
        <p:grpSpPr>
          <a:xfrm>
            <a:off x="6680094" y="3799605"/>
            <a:ext cx="1509282" cy="1413449"/>
            <a:chOff x="9239634" y="2566777"/>
            <a:chExt cx="1509282" cy="1413449"/>
          </a:xfrm>
        </p:grpSpPr>
        <p:cxnSp>
          <p:nvCxnSpPr>
            <p:cNvPr id="296" name="直接箭头连接符 295"/>
            <p:cNvCxnSpPr/>
            <p:nvPr/>
          </p:nvCxnSpPr>
          <p:spPr>
            <a:xfrm>
              <a:off x="9640349" y="3668761"/>
              <a:ext cx="852311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直接箭头连接符 296"/>
            <p:cNvCxnSpPr/>
            <p:nvPr/>
          </p:nvCxnSpPr>
          <p:spPr>
            <a:xfrm flipV="1">
              <a:off x="9639040" y="2606650"/>
              <a:ext cx="0" cy="1062112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8" name="文本框 297"/>
                <p:cNvSpPr txBox="1"/>
                <p:nvPr/>
              </p:nvSpPr>
              <p:spPr>
                <a:xfrm>
                  <a:off x="10356711" y="3454413"/>
                  <a:ext cx="3709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98" name="文本框 29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6711" y="3454413"/>
                  <a:ext cx="370934" cy="369332"/>
                </a:xfrm>
                <a:prstGeom prst="rect">
                  <a:avLst/>
                </a:prstGeom>
                <a:blipFill rotWithShape="0">
                  <a:blip r:embed="rId90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9" name="文本框 298"/>
                <p:cNvSpPr txBox="1"/>
                <p:nvPr/>
              </p:nvSpPr>
              <p:spPr>
                <a:xfrm>
                  <a:off x="9546906" y="2566777"/>
                  <a:ext cx="38587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i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99" name="文本框 2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46906" y="2566777"/>
                  <a:ext cx="385875" cy="369332"/>
                </a:xfrm>
                <a:prstGeom prst="rect">
                  <a:avLst/>
                </a:prstGeom>
                <a:blipFill rotWithShape="0">
                  <a:blip r:embed="rId9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0" name="文本框 299"/>
                <p:cNvSpPr txBox="1"/>
                <p:nvPr/>
              </p:nvSpPr>
              <p:spPr>
                <a:xfrm>
                  <a:off x="9467190" y="3610894"/>
                  <a:ext cx="36580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0" name="文本框 29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7190" y="3610894"/>
                  <a:ext cx="365805" cy="369332"/>
                </a:xfrm>
                <a:prstGeom prst="rect">
                  <a:avLst/>
                </a:prstGeom>
                <a:blipFill rotWithShape="0">
                  <a:blip r:embed="rId9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1" name="直角三角形 300"/>
            <p:cNvSpPr/>
            <p:nvPr/>
          </p:nvSpPr>
          <p:spPr>
            <a:xfrm>
              <a:off x="9644698" y="2911021"/>
              <a:ext cx="85067" cy="763666"/>
            </a:xfrm>
            <a:prstGeom prst="rt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文本框 301"/>
            <p:cNvSpPr txBox="1"/>
            <p:nvPr/>
          </p:nvSpPr>
          <p:spPr>
            <a:xfrm>
              <a:off x="10051289" y="2962233"/>
              <a:ext cx="697627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低通滤波</a:t>
              </a:r>
              <a:endParaRPr lang="en-US" altLang="zh-CN" sz="1000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1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后的噪声</a:t>
              </a:r>
              <a:endParaRPr lang="zh-CN" altLang="en-US" sz="1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303" name="直接箭头连接符 302"/>
            <p:cNvCxnSpPr/>
            <p:nvPr/>
          </p:nvCxnSpPr>
          <p:spPr>
            <a:xfrm flipH="1">
              <a:off x="9770415" y="3185317"/>
              <a:ext cx="271023" cy="244365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4" name="流程图: 过程 303"/>
            <p:cNvSpPr/>
            <p:nvPr/>
          </p:nvSpPr>
          <p:spPr>
            <a:xfrm>
              <a:off x="9633382" y="3393520"/>
              <a:ext cx="141519" cy="281426"/>
            </a:xfrm>
            <a:prstGeom prst="flowChartProcess">
              <a:avLst/>
            </a:prstGeom>
            <a:solidFill>
              <a:schemeClr val="bg1">
                <a:lumMod val="65000"/>
                <a:alpha val="7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7" name="直接箭头连接符 336"/>
            <p:cNvCxnSpPr/>
            <p:nvPr/>
          </p:nvCxnSpPr>
          <p:spPr>
            <a:xfrm flipH="1">
              <a:off x="9753837" y="3566311"/>
              <a:ext cx="17894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8" name="文本框 337"/>
                <p:cNvSpPr txBox="1"/>
                <p:nvPr/>
              </p:nvSpPr>
              <p:spPr>
                <a:xfrm>
                  <a:off x="9239634" y="3453616"/>
                  <a:ext cx="270523" cy="2405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sz="1600" baseline="-25000" dirty="0"/>
                </a:p>
              </p:txBody>
            </p:sp>
          </mc:Choice>
          <mc:Fallback xmlns="">
            <p:sp>
              <p:nvSpPr>
                <p:cNvPr id="338" name="文本框 3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39634" y="3453616"/>
                  <a:ext cx="270523" cy="240579"/>
                </a:xfrm>
                <a:prstGeom prst="rect">
                  <a:avLst/>
                </a:prstGeom>
                <a:blipFill rotWithShape="0">
                  <a:blip r:embed="rId93"/>
                  <a:stretch>
                    <a:fillRect l="-20455" r="-27273" b="-3846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9" name="直接箭头连接符 338"/>
            <p:cNvCxnSpPr/>
            <p:nvPr/>
          </p:nvCxnSpPr>
          <p:spPr>
            <a:xfrm>
              <a:off x="9456356" y="3575894"/>
              <a:ext cx="177026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2" name="组合 211"/>
          <p:cNvGrpSpPr/>
          <p:nvPr/>
        </p:nvGrpSpPr>
        <p:grpSpPr>
          <a:xfrm>
            <a:off x="933404" y="1731526"/>
            <a:ext cx="7750741" cy="1733870"/>
            <a:chOff x="1322515" y="2081719"/>
            <a:chExt cx="7750741" cy="1733870"/>
          </a:xfrm>
        </p:grpSpPr>
        <p:grpSp>
          <p:nvGrpSpPr>
            <p:cNvPr id="183" name="组合 182"/>
            <p:cNvGrpSpPr/>
            <p:nvPr/>
          </p:nvGrpSpPr>
          <p:grpSpPr>
            <a:xfrm>
              <a:off x="1322515" y="2212874"/>
              <a:ext cx="7750741" cy="1602715"/>
              <a:chOff x="1103911" y="3475558"/>
              <a:chExt cx="7750741" cy="1602715"/>
            </a:xfrm>
          </p:grpSpPr>
          <p:cxnSp>
            <p:nvCxnSpPr>
              <p:cNvPr id="76" name="直接连接符 75"/>
              <p:cNvCxnSpPr>
                <a:endCxn id="77" idx="3"/>
              </p:cNvCxnSpPr>
              <p:nvPr/>
            </p:nvCxnSpPr>
            <p:spPr>
              <a:xfrm>
                <a:off x="1103911" y="4340879"/>
                <a:ext cx="863931" cy="3811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等腰三角形 76"/>
              <p:cNvSpPr/>
              <p:nvPr/>
            </p:nvSpPr>
            <p:spPr>
              <a:xfrm rot="5400000">
                <a:off x="1924280" y="4191908"/>
                <a:ext cx="392686" cy="305563"/>
              </a:xfrm>
              <a:prstGeom prst="triangle">
                <a:avLst/>
              </a:prstGeom>
              <a:ln w="254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3600"/>
              </a:p>
            </p:txBody>
          </p:sp>
          <p:sp>
            <p:nvSpPr>
              <p:cNvPr id="90" name="文本框 89"/>
              <p:cNvSpPr txBox="1"/>
              <p:nvPr/>
            </p:nvSpPr>
            <p:spPr>
              <a:xfrm>
                <a:off x="1411454" y="4555053"/>
                <a:ext cx="126188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4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光预放</a:t>
                </a:r>
                <a:endParaRPr lang="en-US" altLang="zh-CN" sz="14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en-US" altLang="zh-CN" sz="14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Preamplifier</a:t>
                </a:r>
                <a:endPara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91" name="直接连接符 90"/>
              <p:cNvCxnSpPr>
                <a:stCxn id="77" idx="0"/>
              </p:cNvCxnSpPr>
              <p:nvPr/>
            </p:nvCxnSpPr>
            <p:spPr>
              <a:xfrm>
                <a:off x="2273405" y="4344690"/>
                <a:ext cx="2432494" cy="0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6" name="直接箭头连接符 145"/>
              <p:cNvCxnSpPr/>
              <p:nvPr/>
            </p:nvCxnSpPr>
            <p:spPr>
              <a:xfrm>
                <a:off x="1669329" y="4266278"/>
                <a:ext cx="277402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直接连接符 146"/>
              <p:cNvCxnSpPr/>
              <p:nvPr/>
            </p:nvCxnSpPr>
            <p:spPr>
              <a:xfrm>
                <a:off x="1672288" y="3951668"/>
                <a:ext cx="0" cy="324886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8" name="矩形 147"/>
                  <p:cNvSpPr/>
                  <p:nvPr/>
                </p:nvSpPr>
                <p:spPr>
                  <a:xfrm>
                    <a:off x="1411454" y="3628663"/>
                    <a:ext cx="61613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𝑟𝑒𝑐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48" name="矩形 14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11454" y="3628663"/>
                    <a:ext cx="616131" cy="369332"/>
                  </a:xfrm>
                  <a:prstGeom prst="rect">
                    <a:avLst/>
                  </a:prstGeom>
                  <a:blipFill rotWithShape="0">
                    <a:blip r:embed="rId9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2" name="组合 21"/>
              <p:cNvGrpSpPr/>
              <p:nvPr/>
            </p:nvGrpSpPr>
            <p:grpSpPr>
              <a:xfrm>
                <a:off x="3461765" y="4092367"/>
                <a:ext cx="501821" cy="438909"/>
                <a:chOff x="2984884" y="3539966"/>
                <a:chExt cx="644323" cy="675117"/>
              </a:xfrm>
            </p:grpSpPr>
            <p:sp>
              <p:nvSpPr>
                <p:cNvPr id="8" name="矩形 7"/>
                <p:cNvSpPr/>
                <p:nvPr/>
              </p:nvSpPr>
              <p:spPr>
                <a:xfrm>
                  <a:off x="2984884" y="3539966"/>
                  <a:ext cx="644323" cy="675117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21" name="组合 20"/>
                <p:cNvGrpSpPr/>
                <p:nvPr/>
              </p:nvGrpSpPr>
              <p:grpSpPr>
                <a:xfrm rot="20299059">
                  <a:off x="3164358" y="3559582"/>
                  <a:ext cx="357267" cy="295576"/>
                  <a:chOff x="7696119" y="2294965"/>
                  <a:chExt cx="357267" cy="295576"/>
                </a:xfrm>
              </p:grpSpPr>
              <p:cxnSp>
                <p:nvCxnSpPr>
                  <p:cNvPr id="11" name="曲线连接符 10"/>
                  <p:cNvCxnSpPr/>
                  <p:nvPr/>
                </p:nvCxnSpPr>
                <p:spPr>
                  <a:xfrm>
                    <a:off x="7696119" y="2294965"/>
                    <a:ext cx="357267" cy="295576"/>
                  </a:xfrm>
                  <a:prstGeom prst="curvedConnector3">
                    <a:avLst/>
                  </a:prstGeom>
                  <a:ln w="254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/>
                  <p:cNvCxnSpPr/>
                  <p:nvPr/>
                </p:nvCxnSpPr>
                <p:spPr>
                  <a:xfrm flipH="1">
                    <a:off x="7705463" y="2316034"/>
                    <a:ext cx="215156" cy="70414"/>
                  </a:xfrm>
                  <a:prstGeom prst="line">
                    <a:avLst/>
                  </a:prstGeom>
                  <a:ln w="254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61" name="组合 160"/>
                <p:cNvGrpSpPr/>
                <p:nvPr/>
              </p:nvGrpSpPr>
              <p:grpSpPr>
                <a:xfrm rot="20299059">
                  <a:off x="3101804" y="3918557"/>
                  <a:ext cx="357267" cy="295576"/>
                  <a:chOff x="7696119" y="2294965"/>
                  <a:chExt cx="357267" cy="295576"/>
                </a:xfrm>
              </p:grpSpPr>
              <p:cxnSp>
                <p:nvCxnSpPr>
                  <p:cNvPr id="162" name="曲线连接符 161"/>
                  <p:cNvCxnSpPr/>
                  <p:nvPr/>
                </p:nvCxnSpPr>
                <p:spPr>
                  <a:xfrm>
                    <a:off x="7696119" y="2294965"/>
                    <a:ext cx="357267" cy="295576"/>
                  </a:xfrm>
                  <a:prstGeom prst="curvedConnector3">
                    <a:avLst/>
                  </a:prstGeom>
                  <a:ln w="254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3" name="直接连接符 162"/>
                  <p:cNvCxnSpPr/>
                  <p:nvPr/>
                </p:nvCxnSpPr>
                <p:spPr>
                  <a:xfrm flipH="1">
                    <a:off x="7800530" y="2480408"/>
                    <a:ext cx="215156" cy="70414"/>
                  </a:xfrm>
                  <a:prstGeom prst="line">
                    <a:avLst/>
                  </a:prstGeom>
                  <a:ln w="25400">
                    <a:solidFill>
                      <a:schemeClr val="bg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64" name="曲线连接符 163"/>
                <p:cNvCxnSpPr/>
                <p:nvPr/>
              </p:nvCxnSpPr>
              <p:spPr>
                <a:xfrm rot="20299059">
                  <a:off x="3129505" y="3722985"/>
                  <a:ext cx="357267" cy="295576"/>
                </a:xfrm>
                <a:prstGeom prst="curvedConnector3">
                  <a:avLst/>
                </a:prstGeom>
                <a:ln w="2540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5" name="文本框 164"/>
              <p:cNvSpPr txBox="1"/>
              <p:nvPr/>
            </p:nvSpPr>
            <p:spPr>
              <a:xfrm>
                <a:off x="3092363" y="4514253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带通滤波器</a:t>
                </a:r>
                <a:endPara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45" name="等腰三角形 44"/>
              <p:cNvSpPr/>
              <p:nvPr/>
            </p:nvSpPr>
            <p:spPr>
              <a:xfrm>
                <a:off x="5006139" y="4168089"/>
                <a:ext cx="210365" cy="221220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6" name="直接连接符 165"/>
              <p:cNvCxnSpPr/>
              <p:nvPr/>
            </p:nvCxnSpPr>
            <p:spPr>
              <a:xfrm>
                <a:off x="4957951" y="4150170"/>
                <a:ext cx="303376" cy="1"/>
              </a:xfrm>
              <a:prstGeom prst="line">
                <a:avLst/>
              </a:prstGeom>
              <a:ln w="254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>
                <a:stCxn id="45" idx="0"/>
              </p:cNvCxnSpPr>
              <p:nvPr/>
            </p:nvCxnSpPr>
            <p:spPr>
              <a:xfrm flipV="1">
                <a:off x="5111322" y="3945949"/>
                <a:ext cx="0" cy="22214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7" name="直接连接符 166"/>
              <p:cNvCxnSpPr/>
              <p:nvPr/>
            </p:nvCxnSpPr>
            <p:spPr>
              <a:xfrm flipH="1" flipV="1">
                <a:off x="5111698" y="4395514"/>
                <a:ext cx="1683" cy="353377"/>
              </a:xfrm>
              <a:prstGeom prst="line">
                <a:avLst/>
              </a:prstGeom>
              <a:ln w="25400">
                <a:solidFill>
                  <a:srgbClr val="5B9BD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24" name="组合 1023"/>
              <p:cNvGrpSpPr/>
              <p:nvPr/>
            </p:nvGrpSpPr>
            <p:grpSpPr>
              <a:xfrm>
                <a:off x="4787834" y="4126118"/>
                <a:ext cx="178058" cy="317652"/>
                <a:chOff x="4761289" y="2396241"/>
                <a:chExt cx="263795" cy="378966"/>
              </a:xfrm>
            </p:grpSpPr>
            <p:cxnSp>
              <p:nvCxnSpPr>
                <p:cNvPr id="62" name="直接连接符 61"/>
                <p:cNvCxnSpPr/>
                <p:nvPr/>
              </p:nvCxnSpPr>
              <p:spPr>
                <a:xfrm flipV="1">
                  <a:off x="4761289" y="2396241"/>
                  <a:ext cx="141405" cy="261338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直接连接符 64"/>
                <p:cNvCxnSpPr/>
                <p:nvPr/>
              </p:nvCxnSpPr>
              <p:spPr>
                <a:xfrm flipV="1">
                  <a:off x="4803083" y="2657579"/>
                  <a:ext cx="222001" cy="28937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接连接符 66"/>
                <p:cNvCxnSpPr/>
                <p:nvPr/>
              </p:nvCxnSpPr>
              <p:spPr>
                <a:xfrm>
                  <a:off x="4826509" y="2740429"/>
                  <a:ext cx="151913" cy="34778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直接连接符 175"/>
                <p:cNvCxnSpPr/>
                <p:nvPr/>
              </p:nvCxnSpPr>
              <p:spPr>
                <a:xfrm flipV="1">
                  <a:off x="4761289" y="2507195"/>
                  <a:ext cx="241595" cy="145261"/>
                </a:xfrm>
                <a:prstGeom prst="line">
                  <a:avLst/>
                </a:prstGeom>
                <a:ln w="254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032" name="直接连接符 1031"/>
              <p:cNvCxnSpPr/>
              <p:nvPr/>
            </p:nvCxnSpPr>
            <p:spPr>
              <a:xfrm>
                <a:off x="5111322" y="3965664"/>
                <a:ext cx="993071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9" name="直接箭头连接符 1038"/>
              <p:cNvCxnSpPr/>
              <p:nvPr/>
            </p:nvCxnSpPr>
            <p:spPr>
              <a:xfrm>
                <a:off x="5889244" y="3965664"/>
                <a:ext cx="358408" cy="0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6" name="组合 185"/>
              <p:cNvGrpSpPr/>
              <p:nvPr/>
            </p:nvGrpSpPr>
            <p:grpSpPr>
              <a:xfrm>
                <a:off x="6187459" y="3778531"/>
                <a:ext cx="501821" cy="392295"/>
                <a:chOff x="2984884" y="3539966"/>
                <a:chExt cx="644323" cy="700790"/>
              </a:xfrm>
            </p:grpSpPr>
            <p:sp>
              <p:nvSpPr>
                <p:cNvPr id="187" name="矩形 186"/>
                <p:cNvSpPr/>
                <p:nvPr/>
              </p:nvSpPr>
              <p:spPr>
                <a:xfrm>
                  <a:off x="2984884" y="3539966"/>
                  <a:ext cx="644323" cy="675117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grpSp>
              <p:nvGrpSpPr>
                <p:cNvPr id="188" name="组合 187"/>
                <p:cNvGrpSpPr/>
                <p:nvPr/>
              </p:nvGrpSpPr>
              <p:grpSpPr>
                <a:xfrm rot="20299059">
                  <a:off x="3164358" y="3559582"/>
                  <a:ext cx="357267" cy="295576"/>
                  <a:chOff x="7696119" y="2294965"/>
                  <a:chExt cx="357267" cy="295576"/>
                </a:xfrm>
              </p:grpSpPr>
              <p:cxnSp>
                <p:nvCxnSpPr>
                  <p:cNvPr id="193" name="曲线连接符 192"/>
                  <p:cNvCxnSpPr/>
                  <p:nvPr/>
                </p:nvCxnSpPr>
                <p:spPr>
                  <a:xfrm>
                    <a:off x="7696119" y="2294965"/>
                    <a:ext cx="357267" cy="295576"/>
                  </a:xfrm>
                  <a:prstGeom prst="curvedConnector3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4" name="直接连接符 193"/>
                  <p:cNvCxnSpPr/>
                  <p:nvPr/>
                </p:nvCxnSpPr>
                <p:spPr>
                  <a:xfrm flipH="1">
                    <a:off x="7705463" y="2316034"/>
                    <a:ext cx="215156" cy="70414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89" name="组合 188"/>
                <p:cNvGrpSpPr/>
                <p:nvPr/>
              </p:nvGrpSpPr>
              <p:grpSpPr>
                <a:xfrm rot="20299059">
                  <a:off x="3126319" y="3732205"/>
                  <a:ext cx="357267" cy="295574"/>
                  <a:chOff x="7787747" y="2130858"/>
                  <a:chExt cx="357267" cy="295574"/>
                </a:xfrm>
              </p:grpSpPr>
              <p:cxnSp>
                <p:nvCxnSpPr>
                  <p:cNvPr id="191" name="曲线连接符 190"/>
                  <p:cNvCxnSpPr/>
                  <p:nvPr/>
                </p:nvCxnSpPr>
                <p:spPr>
                  <a:xfrm>
                    <a:off x="7787747" y="2130858"/>
                    <a:ext cx="357267" cy="295574"/>
                  </a:xfrm>
                  <a:prstGeom prst="curvedConnector3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2" name="直接连接符 191"/>
                  <p:cNvCxnSpPr/>
                  <p:nvPr/>
                </p:nvCxnSpPr>
                <p:spPr>
                  <a:xfrm rot="1300941" flipH="1">
                    <a:off x="7865508" y="2159513"/>
                    <a:ext cx="115967" cy="176125"/>
                  </a:xfrm>
                  <a:prstGeom prst="line">
                    <a:avLst/>
                  </a:prstGeom>
                  <a:ln w="2540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0" name="曲线连接符 189"/>
                <p:cNvCxnSpPr/>
                <p:nvPr/>
              </p:nvCxnSpPr>
              <p:spPr>
                <a:xfrm rot="20299059">
                  <a:off x="3088278" y="3945180"/>
                  <a:ext cx="357267" cy="295576"/>
                </a:xfrm>
                <a:prstGeom prst="curvedConnector3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96" name="直接箭头连接符 195"/>
              <p:cNvCxnSpPr>
                <a:stCxn id="187" idx="3"/>
              </p:cNvCxnSpPr>
              <p:nvPr/>
            </p:nvCxnSpPr>
            <p:spPr>
              <a:xfrm flipV="1">
                <a:off x="6689280" y="3944384"/>
                <a:ext cx="840700" cy="23109"/>
              </a:xfrm>
              <a:prstGeom prst="straightConnector1">
                <a:avLst/>
              </a:prstGeom>
              <a:ln w="25400">
                <a:solidFill>
                  <a:srgbClr val="FF0000"/>
                </a:solidFill>
                <a:headEnd type="non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73" name="组合 1072"/>
              <p:cNvGrpSpPr/>
              <p:nvPr/>
            </p:nvGrpSpPr>
            <p:grpSpPr>
              <a:xfrm>
                <a:off x="7587196" y="3475558"/>
                <a:ext cx="659084" cy="1040243"/>
                <a:chOff x="7575727" y="2901958"/>
                <a:chExt cx="1062945" cy="1217503"/>
              </a:xfrm>
            </p:grpSpPr>
            <p:cxnSp>
              <p:nvCxnSpPr>
                <p:cNvPr id="198" name="直接连接符 197"/>
                <p:cNvCxnSpPr/>
                <p:nvPr/>
              </p:nvCxnSpPr>
              <p:spPr>
                <a:xfrm flipV="1">
                  <a:off x="7575727" y="3282011"/>
                  <a:ext cx="0" cy="399876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直接连接符 199"/>
                <p:cNvCxnSpPr/>
                <p:nvPr/>
              </p:nvCxnSpPr>
              <p:spPr>
                <a:xfrm flipV="1">
                  <a:off x="7575727" y="3138741"/>
                  <a:ext cx="250463" cy="268065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直接连接符 202"/>
                <p:cNvCxnSpPr/>
                <p:nvPr/>
              </p:nvCxnSpPr>
              <p:spPr>
                <a:xfrm flipV="1">
                  <a:off x="7826190" y="2901958"/>
                  <a:ext cx="0" cy="236783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直接箭头连接符 205"/>
                <p:cNvCxnSpPr/>
                <p:nvPr/>
              </p:nvCxnSpPr>
              <p:spPr>
                <a:xfrm>
                  <a:off x="8280264" y="3153795"/>
                  <a:ext cx="358408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直接箭头连接符 206"/>
                <p:cNvCxnSpPr/>
                <p:nvPr/>
              </p:nvCxnSpPr>
              <p:spPr>
                <a:xfrm>
                  <a:off x="7826190" y="3153795"/>
                  <a:ext cx="358408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直接连接符 207"/>
                <p:cNvCxnSpPr/>
                <p:nvPr/>
              </p:nvCxnSpPr>
              <p:spPr>
                <a:xfrm flipV="1">
                  <a:off x="8194286" y="3050980"/>
                  <a:ext cx="0" cy="22214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直接连接符 208"/>
                <p:cNvCxnSpPr/>
                <p:nvPr/>
              </p:nvCxnSpPr>
              <p:spPr>
                <a:xfrm flipV="1">
                  <a:off x="8266005" y="3042013"/>
                  <a:ext cx="0" cy="22214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直接箭头连接符 209"/>
                <p:cNvCxnSpPr/>
                <p:nvPr/>
              </p:nvCxnSpPr>
              <p:spPr>
                <a:xfrm flipH="1" flipV="1">
                  <a:off x="7575728" y="3529490"/>
                  <a:ext cx="250462" cy="152397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headEnd type="non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直接连接符 212"/>
                <p:cNvCxnSpPr/>
                <p:nvPr/>
              </p:nvCxnSpPr>
              <p:spPr>
                <a:xfrm flipV="1">
                  <a:off x="7826190" y="3662427"/>
                  <a:ext cx="0" cy="357923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直接箭头连接符 214"/>
                <p:cNvCxnSpPr/>
                <p:nvPr/>
              </p:nvCxnSpPr>
              <p:spPr>
                <a:xfrm>
                  <a:off x="7646986" y="4025616"/>
                  <a:ext cx="358408" cy="0"/>
                </a:xfrm>
                <a:prstGeom prst="straightConnector1">
                  <a:avLst/>
                </a:prstGeom>
                <a:ln w="25400">
                  <a:solidFill>
                    <a:srgbClr val="FF0000"/>
                  </a:solidFill>
                  <a:headEnd type="none"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直接连接符 215"/>
                <p:cNvCxnSpPr/>
                <p:nvPr/>
              </p:nvCxnSpPr>
              <p:spPr>
                <a:xfrm flipV="1">
                  <a:off x="7655311" y="4029461"/>
                  <a:ext cx="72000" cy="9000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直接连接符 216"/>
                <p:cNvCxnSpPr/>
                <p:nvPr/>
              </p:nvCxnSpPr>
              <p:spPr>
                <a:xfrm flipV="1">
                  <a:off x="7762886" y="4020492"/>
                  <a:ext cx="72000" cy="9000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直接连接符 217"/>
                <p:cNvCxnSpPr/>
                <p:nvPr/>
              </p:nvCxnSpPr>
              <p:spPr>
                <a:xfrm flipV="1">
                  <a:off x="7861497" y="4029459"/>
                  <a:ext cx="72000" cy="9000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9" name="文本框 218"/>
              <p:cNvSpPr txBox="1"/>
              <p:nvPr/>
            </p:nvSpPr>
            <p:spPr>
              <a:xfrm>
                <a:off x="5899042" y="4144612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低</a:t>
                </a:r>
                <a:r>
                  <a:rPr lang="zh-CN" altLang="en-US" sz="1600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通滤波器</a:t>
                </a:r>
                <a:endParaRPr lang="zh-CN" altLang="en-US" sz="16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20" name="文本框 219"/>
              <p:cNvSpPr txBox="1"/>
              <p:nvPr/>
            </p:nvSpPr>
            <p:spPr>
              <a:xfrm>
                <a:off x="7644064" y="3805792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电预放大器</a:t>
                </a:r>
                <a:endPara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cxnSp>
          <p:nvCxnSpPr>
            <p:cNvPr id="185" name="直接连接符 184"/>
            <p:cNvCxnSpPr/>
            <p:nvPr/>
          </p:nvCxnSpPr>
          <p:spPr>
            <a:xfrm>
              <a:off x="5109572" y="2081719"/>
              <a:ext cx="0" cy="6882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7" name="矩形 196"/>
            <p:cNvSpPr/>
            <p:nvPr/>
          </p:nvSpPr>
          <p:spPr>
            <a:xfrm>
              <a:off x="5129028" y="2081719"/>
              <a:ext cx="325536" cy="547263"/>
            </a:xfrm>
            <a:prstGeom prst="rect">
              <a:avLst/>
            </a:prstGeom>
            <a:pattFill prst="ltUpDiag">
              <a:fgClr>
                <a:srgbClr val="FF0000"/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1" name="直接箭头连接符 200"/>
            <p:cNvCxnSpPr/>
            <p:nvPr/>
          </p:nvCxnSpPr>
          <p:spPr>
            <a:xfrm>
              <a:off x="4562273" y="2450216"/>
              <a:ext cx="530350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文本框 201"/>
            <p:cNvSpPr txBox="1"/>
            <p:nvPr/>
          </p:nvSpPr>
          <p:spPr>
            <a:xfrm>
              <a:off x="4579553" y="2105009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光</a:t>
              </a:r>
            </a:p>
          </p:txBody>
        </p:sp>
        <p:cxnSp>
          <p:nvCxnSpPr>
            <p:cNvPr id="205" name="直接箭头连接符 204"/>
            <p:cNvCxnSpPr/>
            <p:nvPr/>
          </p:nvCxnSpPr>
          <p:spPr>
            <a:xfrm flipH="1">
              <a:off x="5087974" y="2418159"/>
              <a:ext cx="621555" cy="15152"/>
            </a:xfrm>
            <a:prstGeom prst="straightConnector1">
              <a:avLst/>
            </a:prstGeom>
            <a:ln w="254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" name="文本框 350"/>
            <p:cNvSpPr txBox="1"/>
            <p:nvPr/>
          </p:nvSpPr>
          <p:spPr>
            <a:xfrm>
              <a:off x="5412259" y="2087956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电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2" name="文本框 231"/>
              <p:cNvSpPr txBox="1"/>
              <p:nvPr/>
            </p:nvSpPr>
            <p:spPr>
              <a:xfrm>
                <a:off x="2246961" y="5405127"/>
                <a:ext cx="4302460" cy="83099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dirty="0" smtClean="0">
                    <a:effectLst/>
                    <a:latin typeface="仿宋" panose="02010609060101010101" pitchFamily="49" charset="-122"/>
                    <a:ea typeface="仿宋" panose="02010609060101010101" pitchFamily="49" charset="-122"/>
                  </a:rPr>
                  <a:t>光放大器辐射噪声带宽：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effectLst/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𝐵</m:t>
                    </m:r>
                    <m:r>
                      <a:rPr lang="en-US" altLang="zh-CN" sz="1600" b="0" i="1" baseline="-25000" smtClean="0">
                        <a:effectLst/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𝑎𝑠𝑒</m:t>
                    </m:r>
                  </m:oMath>
                </a14:m>
                <a:r>
                  <a:rPr lang="en-US" altLang="zh-CN" sz="1600" dirty="0" smtClean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~30nm</a:t>
                </a:r>
                <a:r>
                  <a:rPr lang="en-US" altLang="zh-CN" sz="16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/3-4THz</a:t>
                </a:r>
                <a:r>
                  <a:rPr lang="en-US" altLang="zh-CN" sz="1600" dirty="0" smtClean="0">
                    <a:effectLst/>
                    <a:latin typeface="仿宋" panose="02010609060101010101" pitchFamily="49" charset="-122"/>
                    <a:ea typeface="仿宋" panose="02010609060101010101" pitchFamily="49" charset="-122"/>
                  </a:rPr>
                  <a:t> </a:t>
                </a:r>
              </a:p>
              <a:p>
                <a:r>
                  <a:rPr lang="zh-CN" altLang="en-US" sz="1600" dirty="0" smtClean="0">
                    <a:effectLst/>
                    <a:latin typeface="仿宋" panose="02010609060101010101" pitchFamily="49" charset="-122"/>
                    <a:ea typeface="仿宋" panose="02010609060101010101" pitchFamily="49" charset="-122"/>
                  </a:rPr>
                  <a:t>光滤波器带宽</a:t>
                </a:r>
                <a:r>
                  <a:rPr lang="en-US" altLang="zh-CN" sz="1600" dirty="0" smtClean="0">
                    <a:effectLst/>
                    <a:latin typeface="仿宋" panose="02010609060101010101" pitchFamily="49" charset="-122"/>
                    <a:ea typeface="仿宋" panose="02010609060101010101" pitchFamily="49" charset="-122"/>
                  </a:rPr>
                  <a:t>:        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effectLst/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𝐵</m:t>
                    </m:r>
                    <m:r>
                      <a:rPr lang="en-US" altLang="zh-CN" sz="1600" b="0" i="1" baseline="-25000" smtClean="0">
                        <a:effectLst/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𝑜</m:t>
                    </m:r>
                  </m:oMath>
                </a14:m>
                <a:r>
                  <a:rPr lang="en-US" altLang="zh-CN" sz="1600" dirty="0" smtClean="0">
                    <a:effectLst/>
                    <a:latin typeface="Cambria Math" panose="02040503050406030204" pitchFamily="18" charset="0"/>
                    <a:ea typeface="Cambria Math" panose="02040503050406030204" pitchFamily="18" charset="0"/>
                  </a:rPr>
                  <a:t>~</a:t>
                </a:r>
                <a:r>
                  <a:rPr lang="en-US" altLang="zh-CN" sz="1600" dirty="0" smtClean="0">
                    <a:effectLst/>
                    <a:latin typeface="仿宋" panose="02010609060101010101" pitchFamily="49" charset="-122"/>
                    <a:ea typeface="仿宋" panose="02010609060101010101" pitchFamily="49" charset="-122"/>
                  </a:rPr>
                  <a:t>1-4</a:t>
                </a:r>
                <a:r>
                  <a:rPr lang="zh-CN" altLang="en-US" sz="1600" dirty="0" smtClean="0">
                    <a:effectLst/>
                    <a:latin typeface="仿宋" panose="02010609060101010101" pitchFamily="49" charset="-122"/>
                    <a:ea typeface="仿宋" panose="02010609060101010101" pitchFamily="49" charset="-122"/>
                  </a:rPr>
                  <a:t>倍码元速率</a:t>
                </a:r>
                <a:endParaRPr lang="en-US" altLang="zh-CN" sz="1600" dirty="0" smtClean="0">
                  <a:effectLst/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接收机</a:t>
                </a:r>
                <a:r>
                  <a:rPr lang="zh-CN" altLang="en-US" sz="1600" dirty="0" smtClean="0">
                    <a:effectLst/>
                    <a:latin typeface="仿宋" panose="02010609060101010101" pitchFamily="49" charset="-122"/>
                    <a:ea typeface="仿宋" panose="02010609060101010101" pitchFamily="49" charset="-122"/>
                  </a:rPr>
                  <a:t>低通滤波器带宽  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altLang="zh-CN" sz="1600" b="0" i="1" smtClea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~码元</m:t>
                    </m:r>
                  </m:oMath>
                </a14:m>
                <a:r>
                  <a:rPr lang="zh-CN" altLang="en-US" sz="1600" dirty="0" smtClean="0">
                    <a:effectLst/>
                    <a:latin typeface="仿宋" panose="02010609060101010101" pitchFamily="49" charset="-122"/>
                    <a:ea typeface="仿宋" panose="02010609060101010101" pitchFamily="49" charset="-122"/>
                  </a:rPr>
                  <a:t>速率</a:t>
                </a:r>
                <a:endParaRPr lang="zh-CN" altLang="en-US" sz="1600" dirty="0">
                  <a:effectLst/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2" name="文本框 2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961" y="5405127"/>
                <a:ext cx="4302460" cy="830997"/>
              </a:xfrm>
              <a:prstGeom prst="rect">
                <a:avLst/>
              </a:prstGeom>
              <a:blipFill rotWithShape="0">
                <a:blip r:embed="rId97"/>
                <a:stretch>
                  <a:fillRect l="-707" t="-2174" b="-7246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1831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07950" y="44450"/>
            <a:ext cx="4240185" cy="884238"/>
            <a:chOff x="0" y="0"/>
            <a:chExt cx="6678" cy="1392"/>
          </a:xfrm>
        </p:grpSpPr>
        <p:sp>
          <p:nvSpPr>
            <p:cNvPr id="5" name="文本框 6"/>
            <p:cNvSpPr txBox="1">
              <a:spLocks noChangeArrowheads="1"/>
            </p:cNvSpPr>
            <p:nvPr/>
          </p:nvSpPr>
          <p:spPr bwMode="auto">
            <a:xfrm>
              <a:off x="0" y="0"/>
              <a:ext cx="2041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5200" b="1" dirty="0">
                  <a:solidFill>
                    <a:srgbClr val="136489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6" name="文本框 8"/>
            <p:cNvSpPr txBox="1">
              <a:spLocks noChangeArrowheads="1"/>
            </p:cNvSpPr>
            <p:nvPr/>
          </p:nvSpPr>
          <p:spPr bwMode="auto">
            <a:xfrm>
              <a:off x="1678" y="226"/>
              <a:ext cx="5000" cy="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300" b="1" dirty="0" smtClean="0">
                  <a:solidFill>
                    <a:srgbClr val="1364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光接收机噪声分析</a:t>
              </a:r>
              <a:endParaRPr lang="zh-CN" altLang="en-US" sz="2300" b="1" dirty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755915" y="928688"/>
                <a:ext cx="5615956" cy="80541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光电探测器电流表达式：</a:t>
                </a:r>
                <a14:m>
                  <m:oMath xmlns:m="http://schemas.openxmlformats.org/officeDocument/2006/math"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𝑰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𝑹𝒅</m:t>
                    </m:r>
                    <m:d>
                      <m:dPr>
                        <m:ctrlPr>
                          <a:rPr lang="en-US" altLang="zh-CN" sz="1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d>
                          <m:dPr>
                            <m:begChr m:val="⌊"/>
                            <m:endChr m:val="⌋"/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𝑮</m:t>
                                </m:r>
                              </m:e>
                            </m:rad>
                            <m:sSub>
                              <m:sSubPr>
                                <m:ctrlP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𝒊𝒏</m:t>
                                </m:r>
                              </m:sub>
                            </m:s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𝒄𝒑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400" b="1" i="1" baseline="300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  <m:r>
                          <a:rPr lang="en-US" altLang="zh-CN" sz="1400" b="1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+</m:t>
                        </m:r>
                        <m:d>
                          <m:dPr>
                            <m:begChr m:val="⌊"/>
                            <m:endChr m:val="⌋"/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𝑬</m:t>
                                </m:r>
                              </m:e>
                              <m: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𝒐𝒑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400" b="1" i="1" baseline="3000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𝟐</m:t>
                        </m:r>
                      </m:e>
                    </m:d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𝒊𝑻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sz="1400" b="1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𝒊𝒔</m:t>
                    </m:r>
                  </m:oMath>
                </a14:m>
                <a:endParaRPr lang="en-US" altLang="zh-CN" sz="1400" dirty="0" smtClean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主要噪声项，信号与噪声之间的拍频，以及噪声与噪声之间的拍频</a:t>
                </a:r>
                <a:endParaRPr lang="en-US" altLang="zh-CN" sz="1400" dirty="0" smtClean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15" y="928688"/>
                <a:ext cx="5615956" cy="805413"/>
              </a:xfrm>
              <a:prstGeom prst="rect">
                <a:avLst/>
              </a:prstGeom>
              <a:blipFill rotWithShape="0">
                <a:blip r:embed="rId2"/>
                <a:stretch>
                  <a:fillRect l="-217" b="-7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组合 55"/>
          <p:cNvGrpSpPr/>
          <p:nvPr/>
        </p:nvGrpSpPr>
        <p:grpSpPr>
          <a:xfrm>
            <a:off x="6557365" y="998608"/>
            <a:ext cx="1704770" cy="5144508"/>
            <a:chOff x="7082459" y="717955"/>
            <a:chExt cx="1704770" cy="5144508"/>
          </a:xfrm>
        </p:grpSpPr>
        <p:grpSp>
          <p:nvGrpSpPr>
            <p:cNvPr id="11" name="组合 10"/>
            <p:cNvGrpSpPr/>
            <p:nvPr/>
          </p:nvGrpSpPr>
          <p:grpSpPr>
            <a:xfrm>
              <a:off x="7082459" y="717955"/>
              <a:ext cx="1547530" cy="1249612"/>
              <a:chOff x="4048204" y="1962303"/>
              <a:chExt cx="1547530" cy="1249612"/>
            </a:xfrm>
          </p:grpSpPr>
          <p:cxnSp>
            <p:nvCxnSpPr>
              <p:cNvPr id="12" name="直接箭头连接符 11"/>
              <p:cNvCxnSpPr/>
              <p:nvPr/>
            </p:nvCxnSpPr>
            <p:spPr>
              <a:xfrm>
                <a:off x="4158667" y="2926985"/>
                <a:ext cx="1173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箭头连接符 12"/>
              <p:cNvCxnSpPr/>
              <p:nvPr/>
            </p:nvCxnSpPr>
            <p:spPr>
              <a:xfrm flipV="1">
                <a:off x="4148394" y="2162358"/>
                <a:ext cx="0" cy="764627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等腰三角形 13"/>
              <p:cNvSpPr/>
              <p:nvPr/>
            </p:nvSpPr>
            <p:spPr>
              <a:xfrm>
                <a:off x="4706483" y="2306804"/>
                <a:ext cx="49779" cy="620181"/>
              </a:xfrm>
              <a:prstGeom prst="triangl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4550399" y="2686825"/>
                <a:ext cx="353965" cy="239458"/>
              </a:xfrm>
              <a:prstGeom prst="rect">
                <a:avLst/>
              </a:prstGeom>
              <a:solidFill>
                <a:schemeClr val="bg1">
                  <a:alpha val="28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文本框 15"/>
                  <p:cNvSpPr txBox="1"/>
                  <p:nvPr/>
                </p:nvSpPr>
                <p:spPr>
                  <a:xfrm>
                    <a:off x="5205952" y="2749289"/>
                    <a:ext cx="361766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6" name="文本框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05952" y="2749289"/>
                    <a:ext cx="361766" cy="369332"/>
                  </a:xfrm>
                  <a:prstGeom prst="rect">
                    <a:avLst/>
                  </a:prstGeom>
                  <a:blipFill rotWithShape="0">
                    <a:blip r:embed="rId5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文本框 16"/>
                  <p:cNvSpPr txBox="1"/>
                  <p:nvPr/>
                </p:nvSpPr>
                <p:spPr>
                  <a:xfrm>
                    <a:off x="4048204" y="2095320"/>
                    <a:ext cx="38587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oMath>
                      </m:oMathPara>
                    </a14:m>
                    <a:endParaRPr lang="zh-CN" altLang="en-US" i="1" dirty="0"/>
                  </a:p>
                </p:txBody>
              </p:sp>
            </mc:Choice>
            <mc:Fallback xmlns="">
              <p:sp>
                <p:nvSpPr>
                  <p:cNvPr id="17" name="文本框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48204" y="2095320"/>
                    <a:ext cx="385875" cy="369332"/>
                  </a:xfrm>
                  <a:prstGeom prst="rect">
                    <a:avLst/>
                  </a:prstGeom>
                  <a:blipFill rotWithShape="0">
                    <a:blip r:embed="rId5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直接箭头连接符 17"/>
              <p:cNvCxnSpPr>
                <a:stCxn id="19" idx="2"/>
              </p:cNvCxnSpPr>
              <p:nvPr/>
            </p:nvCxnSpPr>
            <p:spPr>
              <a:xfrm flipH="1">
                <a:off x="4876580" y="2362413"/>
                <a:ext cx="370341" cy="324412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/>
              <p:cNvSpPr txBox="1"/>
              <p:nvPr/>
            </p:nvSpPr>
            <p:spPr>
              <a:xfrm>
                <a:off x="4898107" y="1962303"/>
                <a:ext cx="697627" cy="40011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0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带</a:t>
                </a:r>
                <a:r>
                  <a:rPr lang="zh-CN" altLang="en-US" sz="1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通滤波</a:t>
                </a:r>
                <a:endParaRPr lang="en-US" altLang="zh-CN" sz="1000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r>
                  <a:rPr lang="zh-CN" altLang="en-US" sz="10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后的噪声</a:t>
                </a:r>
                <a:endParaRPr lang="zh-CN" altLang="en-US" sz="10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20" name="直接箭头连接符 19"/>
              <p:cNvCxnSpPr/>
              <p:nvPr/>
            </p:nvCxnSpPr>
            <p:spPr>
              <a:xfrm>
                <a:off x="4550399" y="3005004"/>
                <a:ext cx="38535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文本框 20"/>
                  <p:cNvSpPr txBox="1"/>
                  <p:nvPr/>
                </p:nvSpPr>
                <p:spPr>
                  <a:xfrm>
                    <a:off x="4667572" y="2971336"/>
                    <a:ext cx="212302" cy="2405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a14:m>
                    <a:r>
                      <a:rPr lang="en-US" altLang="zh-CN" sz="1600" baseline="-25000" dirty="0" smtClean="0"/>
                      <a:t>o</a:t>
                    </a:r>
                    <a:endParaRPr lang="zh-CN" altLang="en-US" sz="1600" baseline="-25000" dirty="0"/>
                  </a:p>
                </p:txBody>
              </p:sp>
            </mc:Choice>
            <mc:Fallback xmlns="">
              <p:sp>
                <p:nvSpPr>
                  <p:cNvPr id="21" name="文本框 2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67572" y="2971336"/>
                    <a:ext cx="212302" cy="240579"/>
                  </a:xfrm>
                  <a:prstGeom prst="rect">
                    <a:avLst/>
                  </a:prstGeom>
                  <a:blipFill rotWithShape="0">
                    <a:blip r:embed="rId54"/>
                    <a:stretch>
                      <a:fillRect l="-31429" r="-40000" b="-47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4" name="直接箭头连接符 23"/>
            <p:cNvCxnSpPr/>
            <p:nvPr/>
          </p:nvCxnSpPr>
          <p:spPr>
            <a:xfrm>
              <a:off x="7215296" y="3164789"/>
              <a:ext cx="1173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7205023" y="2400162"/>
              <a:ext cx="0" cy="7646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>
              <a:off x="7769922" y="2544608"/>
              <a:ext cx="49779" cy="62018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文本框 27"/>
                <p:cNvSpPr txBox="1"/>
                <p:nvPr/>
              </p:nvSpPr>
              <p:spPr>
                <a:xfrm>
                  <a:off x="8262581" y="2987093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28" name="文本框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2581" y="2987093"/>
                  <a:ext cx="367408" cy="369332"/>
                </a:xfrm>
                <a:prstGeom prst="rect">
                  <a:avLst/>
                </a:prstGeom>
                <a:blipFill rotWithShape="0">
                  <a:blip r:embed="rId5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/>
                <p:cNvSpPr txBox="1"/>
                <p:nvPr/>
              </p:nvSpPr>
              <p:spPr>
                <a:xfrm>
                  <a:off x="7104833" y="2333124"/>
                  <a:ext cx="396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29" name="文本框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4833" y="2333124"/>
                  <a:ext cx="396262" cy="369332"/>
                </a:xfrm>
                <a:prstGeom prst="rect">
                  <a:avLst/>
                </a:prstGeom>
                <a:blipFill rotWithShape="0">
                  <a:blip r:embed="rId5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/>
            <p:cNvCxnSpPr/>
            <p:nvPr/>
          </p:nvCxnSpPr>
          <p:spPr>
            <a:xfrm>
              <a:off x="7221802" y="4367628"/>
              <a:ext cx="1173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箭头连接符 34"/>
            <p:cNvCxnSpPr/>
            <p:nvPr/>
          </p:nvCxnSpPr>
          <p:spPr>
            <a:xfrm flipV="1">
              <a:off x="7211529" y="3603001"/>
              <a:ext cx="0" cy="7646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7613534" y="4205068"/>
              <a:ext cx="353965" cy="161857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/>
                <p:cNvSpPr txBox="1"/>
                <p:nvPr/>
              </p:nvSpPr>
              <p:spPr>
                <a:xfrm>
                  <a:off x="8269087" y="4189932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38" name="文本框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69087" y="4189932"/>
                  <a:ext cx="367408" cy="369332"/>
                </a:xfrm>
                <a:prstGeom prst="rect">
                  <a:avLst/>
                </a:prstGeom>
                <a:blipFill rotWithShape="0">
                  <a:blip r:embed="rId5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7111339" y="3535963"/>
                  <a:ext cx="396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1339" y="3535963"/>
                  <a:ext cx="396262" cy="369332"/>
                </a:xfrm>
                <a:prstGeom prst="rect">
                  <a:avLst/>
                </a:prstGeom>
                <a:blipFill rotWithShape="0"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直接箭头连接符 39"/>
            <p:cNvCxnSpPr/>
            <p:nvPr/>
          </p:nvCxnSpPr>
          <p:spPr>
            <a:xfrm>
              <a:off x="7613534" y="4445647"/>
              <a:ext cx="3853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文本框 40"/>
                <p:cNvSpPr txBox="1"/>
                <p:nvPr/>
              </p:nvSpPr>
              <p:spPr>
                <a:xfrm>
                  <a:off x="7730707" y="4411979"/>
                  <a:ext cx="222818" cy="2405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en-US" altLang="zh-CN" sz="1600" b="1" baseline="-25000" dirty="0" smtClean="0"/>
                    <a:t>o</a:t>
                  </a:r>
                  <a:endParaRPr lang="zh-CN" altLang="en-US" sz="1600" b="1" baseline="-25000" dirty="0"/>
                </a:p>
              </p:txBody>
            </p:sp>
          </mc:Choice>
          <mc:Fallback xmlns="">
            <p:sp>
              <p:nvSpPr>
                <p:cNvPr id="41" name="文本框 4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0707" y="4411979"/>
                  <a:ext cx="222818" cy="240579"/>
                </a:xfrm>
                <a:prstGeom prst="rect">
                  <a:avLst/>
                </a:prstGeom>
                <a:blipFill rotWithShape="0">
                  <a:blip r:embed="rId59"/>
                  <a:stretch>
                    <a:fillRect l="-29730" r="-35135" b="-487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2" name="直接箭头连接符 41"/>
            <p:cNvCxnSpPr/>
            <p:nvPr/>
          </p:nvCxnSpPr>
          <p:spPr>
            <a:xfrm>
              <a:off x="7226310" y="5577533"/>
              <a:ext cx="1173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/>
            <p:nvPr/>
          </p:nvCxnSpPr>
          <p:spPr>
            <a:xfrm flipV="1">
              <a:off x="7216037" y="4812906"/>
              <a:ext cx="0" cy="7646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矩形 44"/>
            <p:cNvSpPr/>
            <p:nvPr/>
          </p:nvSpPr>
          <p:spPr>
            <a:xfrm>
              <a:off x="7618042" y="5414973"/>
              <a:ext cx="353965" cy="161857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文本框 45"/>
                <p:cNvSpPr txBox="1"/>
                <p:nvPr/>
              </p:nvSpPr>
              <p:spPr>
                <a:xfrm>
                  <a:off x="8273595" y="5399837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46" name="文本框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3595" y="5399837"/>
                  <a:ext cx="367408" cy="369332"/>
                </a:xfrm>
                <a:prstGeom prst="rect">
                  <a:avLst/>
                </a:prstGeom>
                <a:blipFill rotWithShape="0">
                  <a:blip r:embed="rId6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文本框 46"/>
                <p:cNvSpPr txBox="1"/>
                <p:nvPr/>
              </p:nvSpPr>
              <p:spPr>
                <a:xfrm>
                  <a:off x="7115847" y="4745868"/>
                  <a:ext cx="3962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zh-CN" altLang="en-US" b="1" i="1" dirty="0"/>
                </a:p>
              </p:txBody>
            </p:sp>
          </mc:Choice>
          <mc:Fallback xmlns="">
            <p:sp>
              <p:nvSpPr>
                <p:cNvPr id="47" name="文本框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15847" y="4745868"/>
                  <a:ext cx="396262" cy="369332"/>
                </a:xfrm>
                <a:prstGeom prst="rect">
                  <a:avLst/>
                </a:prstGeom>
                <a:blipFill rotWithShape="0">
                  <a:blip r:embed="rId6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箭头连接符 47"/>
            <p:cNvCxnSpPr/>
            <p:nvPr/>
          </p:nvCxnSpPr>
          <p:spPr>
            <a:xfrm>
              <a:off x="7618042" y="5655552"/>
              <a:ext cx="38535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文本框 48"/>
                <p:cNvSpPr txBox="1"/>
                <p:nvPr/>
              </p:nvSpPr>
              <p:spPr>
                <a:xfrm>
                  <a:off x="7735215" y="5621884"/>
                  <a:ext cx="222818" cy="2405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en-US" altLang="zh-CN" sz="1600" b="1" baseline="-25000" dirty="0" smtClean="0"/>
                    <a:t>o</a:t>
                  </a:r>
                  <a:endParaRPr lang="zh-CN" altLang="en-US" sz="1600" b="1" baseline="-25000" dirty="0"/>
                </a:p>
              </p:txBody>
            </p:sp>
          </mc:Choice>
          <mc:Fallback xmlns="">
            <p:sp>
              <p:nvSpPr>
                <p:cNvPr id="49" name="文本框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5215" y="5621884"/>
                  <a:ext cx="222818" cy="240579"/>
                </a:xfrm>
                <a:prstGeom prst="rect">
                  <a:avLst/>
                </a:prstGeom>
                <a:blipFill rotWithShape="0">
                  <a:blip r:embed="rId62"/>
                  <a:stretch>
                    <a:fillRect l="-33333" r="-36111" b="-4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矩形 50"/>
                <p:cNvSpPr/>
                <p:nvPr/>
              </p:nvSpPr>
              <p:spPr>
                <a:xfrm>
                  <a:off x="8040602" y="3576803"/>
                  <a:ext cx="56137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𝑬</m:t>
                        </m:r>
                        <m:r>
                          <a:rPr lang="en-US" altLang="zh-CN" b="1" i="1" baseline="-250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𝒄𝒑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1" name="矩形 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40602" y="3576803"/>
                  <a:ext cx="561371" cy="369332"/>
                </a:xfrm>
                <a:prstGeom prst="rect">
                  <a:avLst/>
                </a:prstGeom>
                <a:blipFill rotWithShape="0">
                  <a:blip r:embed="rId63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矩形 51"/>
                <p:cNvSpPr/>
                <p:nvPr/>
              </p:nvSpPr>
              <p:spPr>
                <a:xfrm>
                  <a:off x="8089006" y="4907448"/>
                  <a:ext cx="599780" cy="3942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𝒐𝒑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2" name="矩形 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9006" y="4907448"/>
                  <a:ext cx="599780" cy="394210"/>
                </a:xfrm>
                <a:prstGeom prst="rect">
                  <a:avLst/>
                </a:prstGeom>
                <a:blipFill rotWithShape="0">
                  <a:blip r:embed="rId64"/>
                  <a:stretch>
                    <a:fillRect b="-461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矩形 54"/>
                <p:cNvSpPr/>
                <p:nvPr/>
              </p:nvSpPr>
              <p:spPr>
                <a:xfrm>
                  <a:off x="7910835" y="2254404"/>
                  <a:ext cx="876394" cy="40197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ad>
                          <m:radPr>
                            <m:degHide m:val="on"/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𝑮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𝒊𝒏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55" name="矩形 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0835" y="2254404"/>
                  <a:ext cx="876394" cy="401970"/>
                </a:xfrm>
                <a:prstGeom prst="rect">
                  <a:avLst/>
                </a:prstGeom>
                <a:blipFill rotWithShape="0">
                  <a:blip r:embed="rId6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组合 63"/>
          <p:cNvGrpSpPr/>
          <p:nvPr/>
        </p:nvGrpSpPr>
        <p:grpSpPr>
          <a:xfrm>
            <a:off x="829418" y="2544606"/>
            <a:ext cx="4929356" cy="560697"/>
            <a:chOff x="829418" y="2544606"/>
            <a:chExt cx="4929356" cy="560697"/>
          </a:xfrm>
        </p:grpSpPr>
        <p:sp>
          <p:nvSpPr>
            <p:cNvPr id="58" name="左中括号 57"/>
            <p:cNvSpPr/>
            <p:nvPr/>
          </p:nvSpPr>
          <p:spPr>
            <a:xfrm rot="16200000">
              <a:off x="3008951" y="1711132"/>
              <a:ext cx="252919" cy="1919869"/>
            </a:xfrm>
            <a:prstGeom prst="leftBracket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左中括号 58"/>
            <p:cNvSpPr/>
            <p:nvPr/>
          </p:nvSpPr>
          <p:spPr>
            <a:xfrm rot="16200000">
              <a:off x="4925286" y="1964037"/>
              <a:ext cx="252919" cy="1414057"/>
            </a:xfrm>
            <a:prstGeom prst="leftBracket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2596509" y="2782475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信号与噪声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4516378" y="2797526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>
                  <a:latin typeface="黑体" panose="02010609060101010101" pitchFamily="49" charset="-122"/>
                  <a:ea typeface="黑体" panose="02010609060101010101" pitchFamily="49" charset="-122"/>
                </a:rPr>
                <a:t>噪声</a:t>
              </a:r>
              <a:r>
                <a:rPr lang="zh-CN" altLang="en-US" sz="14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与噪声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2" name="左中括号 61"/>
            <p:cNvSpPr/>
            <p:nvPr/>
          </p:nvSpPr>
          <p:spPr>
            <a:xfrm rot="16200000">
              <a:off x="1251288" y="2140644"/>
              <a:ext cx="252919" cy="1096660"/>
            </a:xfrm>
            <a:prstGeom prst="leftBracket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882612" y="2797526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信号与信号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755915" y="1720384"/>
            <a:ext cx="5362784" cy="796203"/>
            <a:chOff x="755915" y="1720384"/>
            <a:chExt cx="5362784" cy="796203"/>
          </a:xfrm>
        </p:grpSpPr>
        <p:sp>
          <p:nvSpPr>
            <p:cNvPr id="53" name="下箭头 52"/>
            <p:cNvSpPr/>
            <p:nvPr/>
          </p:nvSpPr>
          <p:spPr>
            <a:xfrm>
              <a:off x="885217" y="1792467"/>
              <a:ext cx="288176" cy="18224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/>
                <p:cNvSpPr txBox="1"/>
                <p:nvPr/>
              </p:nvSpPr>
              <p:spPr>
                <a:xfrm>
                  <a:off x="755915" y="2034339"/>
                  <a:ext cx="5362784" cy="482248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𝑮</m:t>
                          </m:r>
                        </m:e>
                      </m:rad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𝒊𝒏</m:t>
                          </m:r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ad>
                        <m:radPr>
                          <m:degHide m:val="on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𝑮</m:t>
                          </m:r>
                        </m:e>
                      </m:rad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𝒊𝒏</m:t>
                          </m:r>
                        </m:sub>
                        <m:sup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bSup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𝑮</m:t>
                          </m:r>
                        </m:e>
                      </m:rad>
                      <m:sSub>
                        <m:sSub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𝒊𝒏</m:t>
                          </m:r>
                        </m:sub>
                      </m:sSub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Sup>
                        <m:sSubSupPr>
                          <m:ctrlP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𝒄𝒑</m:t>
                          </m:r>
                        </m:sub>
                        <m:sup>
                          <m:r>
                            <a:rPr lang="zh-CN" alt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radPr>
                        <m:deg/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𝑮</m:t>
                          </m:r>
                        </m:e>
                      </m:rad>
                      <m:sSubSup>
                        <m:sSub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𝒊𝒏</m:t>
                          </m:r>
                        </m:sub>
                        <m:sup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∗</m:t>
                          </m:r>
                        </m:sup>
                      </m:sSubSup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14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𝑬</m:t>
                      </m:r>
                      <m:r>
                        <a:rPr lang="en-US" altLang="zh-CN" sz="1400" b="1" i="1" baseline="-250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𝒄𝒑</m:t>
                      </m:r>
                      <m:r>
                        <a:rPr lang="en-US" altLang="zh-CN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𝒄𝒑</m:t>
                          </m:r>
                        </m:sub>
                        <m:sup>
                          <m:r>
                            <a:rPr lang="zh-CN" alt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n-US" altLang="zh-CN" sz="1400" b="1" dirty="0">
                      <a:ea typeface="黑体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𝑬</m:t>
                      </m:r>
                      <m:r>
                        <a:rPr lang="en-US" altLang="zh-CN" sz="1400" b="1" i="1" baseline="-250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𝒄𝒑</m:t>
                      </m:r>
                    </m:oMath>
                  </a14:m>
                  <a:r>
                    <a:rPr lang="en-US" altLang="zh-CN" sz="1400" dirty="0" smtClean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  <a:r>
                    <a:rPr lang="en-US" altLang="zh-CN" sz="1400" dirty="0" smtClean="0"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+</a:t>
                  </a:r>
                  <a:r>
                    <a:rPr lang="en-US" altLang="zh-CN" sz="1400" dirty="0" smtClean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𝒄𝒑</m:t>
                          </m:r>
                        </m:sub>
                        <m:sup>
                          <m:r>
                            <a:rPr lang="zh-CN" altLang="en-US" sz="1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zh-CN" altLang="en-US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</m:oMath>
                  </a14:m>
                  <a:r>
                    <a:rPr lang="en-US" altLang="zh-CN" sz="1400" b="1" dirty="0">
                      <a:ea typeface="黑体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400" b="1" i="1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𝑬</m:t>
                      </m:r>
                      <m:r>
                        <a:rPr lang="en-US" altLang="zh-CN" sz="1400" b="1" i="1" baseline="-2500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𝒄𝒑</m:t>
                      </m:r>
                    </m:oMath>
                  </a14:m>
                  <a:endPara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4" name="文本框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5915" y="2034339"/>
                  <a:ext cx="5362784" cy="482248"/>
                </a:xfrm>
                <a:prstGeom prst="rect">
                  <a:avLst/>
                </a:prstGeom>
                <a:blipFill rotWithShape="0">
                  <a:blip r:embed="rId6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5" name="文本框 64"/>
            <p:cNvSpPr txBox="1"/>
            <p:nvPr/>
          </p:nvSpPr>
          <p:spPr>
            <a:xfrm>
              <a:off x="1149349" y="1720384"/>
              <a:ext cx="10823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关键项分解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861173" y="3105303"/>
            <a:ext cx="1201259" cy="307777"/>
            <a:chOff x="861173" y="3105303"/>
            <a:chExt cx="1201259" cy="307777"/>
          </a:xfrm>
        </p:grpSpPr>
        <p:sp>
          <p:nvSpPr>
            <p:cNvPr id="67" name="下箭头 66"/>
            <p:cNvSpPr/>
            <p:nvPr/>
          </p:nvSpPr>
          <p:spPr>
            <a:xfrm>
              <a:off x="861173" y="3203994"/>
              <a:ext cx="288176" cy="182248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文本框 67"/>
            <p:cNvSpPr txBox="1"/>
            <p:nvPr/>
          </p:nvSpPr>
          <p:spPr>
            <a:xfrm>
              <a:off x="1159621" y="3105303"/>
              <a:ext cx="90281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4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噪声表达</a:t>
              </a:r>
              <a:endParaRPr lang="zh-CN" altLang="en-US" sz="14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91" name="组合 90"/>
          <p:cNvGrpSpPr/>
          <p:nvPr/>
        </p:nvGrpSpPr>
        <p:grpSpPr>
          <a:xfrm>
            <a:off x="755915" y="3289781"/>
            <a:ext cx="4872397" cy="989475"/>
            <a:chOff x="713179" y="3432242"/>
            <a:chExt cx="4872397" cy="989475"/>
          </a:xfrm>
        </p:grpSpPr>
        <p:cxnSp>
          <p:nvCxnSpPr>
            <p:cNvPr id="70" name="直接箭头连接符 69"/>
            <p:cNvCxnSpPr/>
            <p:nvPr/>
          </p:nvCxnSpPr>
          <p:spPr>
            <a:xfrm>
              <a:off x="931006" y="4136787"/>
              <a:ext cx="1173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/>
            <p:nvPr/>
          </p:nvCxnSpPr>
          <p:spPr>
            <a:xfrm flipV="1">
              <a:off x="920733" y="3715294"/>
              <a:ext cx="0" cy="4214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矩形 71"/>
            <p:cNvSpPr/>
            <p:nvPr/>
          </p:nvSpPr>
          <p:spPr>
            <a:xfrm>
              <a:off x="1094297" y="3876693"/>
              <a:ext cx="818797" cy="259391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/>
                <p:cNvSpPr txBox="1"/>
                <p:nvPr/>
              </p:nvSpPr>
              <p:spPr>
                <a:xfrm>
                  <a:off x="713179" y="3505099"/>
                  <a:ext cx="3481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zh-CN" altLang="en-US" sz="1400" b="1" i="1" dirty="0"/>
                </a:p>
              </p:txBody>
            </p:sp>
          </mc:Choice>
          <mc:Fallback xmlns="">
            <p:sp>
              <p:nvSpPr>
                <p:cNvPr id="73" name="文本框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79" y="3505099"/>
                  <a:ext cx="348172" cy="307777"/>
                </a:xfrm>
                <a:prstGeom prst="rect">
                  <a:avLst/>
                </a:prstGeom>
                <a:blipFill rotWithShape="0">
                  <a:blip r:embed="rId6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直接箭头连接符 73"/>
            <p:cNvCxnSpPr/>
            <p:nvPr/>
          </p:nvCxnSpPr>
          <p:spPr>
            <a:xfrm>
              <a:off x="1109441" y="4214806"/>
              <a:ext cx="84632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/>
                <p:cNvSpPr txBox="1"/>
                <p:nvPr/>
              </p:nvSpPr>
              <p:spPr>
                <a:xfrm>
                  <a:off x="1439911" y="4181138"/>
                  <a:ext cx="222818" cy="2405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en-US" altLang="zh-CN" sz="1600" b="1" baseline="-25000" dirty="0" smtClean="0"/>
                    <a:t>o</a:t>
                  </a:r>
                  <a:endParaRPr lang="zh-CN" altLang="en-US" sz="1600" b="1" baseline="-25000" dirty="0"/>
                </a:p>
              </p:txBody>
            </p:sp>
          </mc:Choice>
          <mc:Fallback xmlns="">
            <p:sp>
              <p:nvSpPr>
                <p:cNvPr id="75" name="文本框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9911" y="4181138"/>
                  <a:ext cx="222818" cy="240579"/>
                </a:xfrm>
                <a:prstGeom prst="rect">
                  <a:avLst/>
                </a:prstGeom>
                <a:blipFill rotWithShape="0">
                  <a:blip r:embed="rId68"/>
                  <a:stretch>
                    <a:fillRect l="-29730" r="-35135" b="-487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矩形 75"/>
                <p:cNvSpPr/>
                <p:nvPr/>
              </p:nvSpPr>
              <p:spPr>
                <a:xfrm>
                  <a:off x="1810297" y="3432242"/>
                  <a:ext cx="519693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𝑬</m:t>
                        </m:r>
                        <m:r>
                          <a:rPr lang="en-US" altLang="zh-CN" sz="1600" b="1" i="1" baseline="-2500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𝒄𝒑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76" name="矩形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0297" y="3432242"/>
                  <a:ext cx="519693" cy="338554"/>
                </a:xfrm>
                <a:prstGeom prst="rect">
                  <a:avLst/>
                </a:prstGeom>
                <a:blipFill rotWithShape="0">
                  <a:blip r:embed="rId69"/>
                  <a:stretch>
                    <a:fillRect b="-727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流程图: 过程 79"/>
            <p:cNvSpPr/>
            <p:nvPr/>
          </p:nvSpPr>
          <p:spPr>
            <a:xfrm>
              <a:off x="1099713" y="3876693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流程图: 过程 81"/>
            <p:cNvSpPr/>
            <p:nvPr/>
          </p:nvSpPr>
          <p:spPr>
            <a:xfrm>
              <a:off x="1200161" y="3875885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流程图: 过程 82"/>
            <p:cNvSpPr/>
            <p:nvPr/>
          </p:nvSpPr>
          <p:spPr>
            <a:xfrm>
              <a:off x="1300610" y="3877622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流程图: 过程 83"/>
            <p:cNvSpPr/>
            <p:nvPr/>
          </p:nvSpPr>
          <p:spPr>
            <a:xfrm>
              <a:off x="1406255" y="3879359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流程图: 过程 84"/>
            <p:cNvSpPr/>
            <p:nvPr/>
          </p:nvSpPr>
          <p:spPr>
            <a:xfrm>
              <a:off x="1504963" y="3879359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流程图: 过程 85"/>
            <p:cNvSpPr/>
            <p:nvPr/>
          </p:nvSpPr>
          <p:spPr>
            <a:xfrm>
              <a:off x="1605413" y="3875899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流程图: 过程 86"/>
            <p:cNvSpPr/>
            <p:nvPr/>
          </p:nvSpPr>
          <p:spPr>
            <a:xfrm>
              <a:off x="1705863" y="3877638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流程图: 过程 87"/>
            <p:cNvSpPr/>
            <p:nvPr/>
          </p:nvSpPr>
          <p:spPr>
            <a:xfrm>
              <a:off x="1811506" y="3879375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文本框 89"/>
                <p:cNvSpPr txBox="1"/>
                <p:nvPr/>
              </p:nvSpPr>
              <p:spPr>
                <a:xfrm>
                  <a:off x="2542371" y="3638782"/>
                  <a:ext cx="3043205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zh-CN" altLang="en-US" sz="1600" dirty="0" smtClean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光噪声带宽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𝑜</m:t>
                          </m:r>
                        </m:sub>
                      </m:sSub>
                    </m:oMath>
                  </a14:m>
                  <a:r>
                    <a:rPr lang="zh-CN" altLang="en-US" sz="1600" dirty="0" smtClean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分解为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𝑀</m:t>
                      </m:r>
                    </m:oMath>
                  </a14:m>
                  <a:r>
                    <a:rPr lang="zh-CN" altLang="en-US" sz="1600" dirty="0" smtClean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个区间，</a:t>
                  </a:r>
                  <a:endParaRPr lang="en-US" altLang="zh-CN" sz="1600" dirty="0" smtClean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  <a:p>
                  <a:r>
                    <a:rPr lang="zh-CN" altLang="en-US" sz="1600" dirty="0" smtClean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每个区间带宽为</a:t>
                  </a:r>
                  <a14:m>
                    <m:oMath xmlns:m="http://schemas.openxmlformats.org/officeDocument/2006/math">
                      <m:r>
                        <a:rPr lang="en-US" altLang="zh-CN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zh-CN" alt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𝜈</m:t>
                      </m:r>
                    </m:oMath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90" name="文本框 8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42371" y="3638782"/>
                  <a:ext cx="3043205" cy="584775"/>
                </a:xfrm>
                <a:prstGeom prst="rect">
                  <a:avLst/>
                </a:prstGeom>
                <a:blipFill rotWithShape="0">
                  <a:blip r:embed="rId70"/>
                  <a:stretch>
                    <a:fillRect l="-1002" t="-4211" r="-200" b="-126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2" name="组合 101"/>
          <p:cNvGrpSpPr/>
          <p:nvPr/>
        </p:nvGrpSpPr>
        <p:grpSpPr>
          <a:xfrm>
            <a:off x="755915" y="4322112"/>
            <a:ext cx="5362783" cy="2044122"/>
            <a:chOff x="755915" y="4322112"/>
            <a:chExt cx="5362783" cy="2044122"/>
          </a:xfrm>
        </p:grpSpPr>
        <p:sp>
          <p:nvSpPr>
            <p:cNvPr id="92" name="文本框 91"/>
            <p:cNvSpPr txBox="1"/>
            <p:nvPr/>
          </p:nvSpPr>
          <p:spPr>
            <a:xfrm>
              <a:off x="755915" y="4334909"/>
              <a:ext cx="5362783" cy="203132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zh-CN" altLang="en-US" sz="14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噪声表达式：</a:t>
              </a:r>
              <a:endParaRPr lang="en-US" altLang="zh-CN" sz="1400" b="1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4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400" b="1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400" b="1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sz="14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信号表达式</a:t>
              </a:r>
              <a:endPara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400" dirty="0" smtClean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3" name="文本框 92"/>
                <p:cNvSpPr txBox="1"/>
                <p:nvPr/>
              </p:nvSpPr>
              <p:spPr>
                <a:xfrm>
                  <a:off x="1930450" y="4322112"/>
                  <a:ext cx="3214213" cy="61003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𝒄𝒑</m:t>
                            </m:r>
                          </m:sub>
                        </m:sSub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𝑴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𝑺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1" i="1" smtClean="0">
                                            <a:latin typeface="Cambria Math" panose="02040503050406030204" pitchFamily="18" charset="0"/>
                                          </a:rPr>
                                          <m:t>𝑨𝑺𝑬</m:t>
                                        </m:r>
                                      </m:sub>
                                    </m:sSub>
                                    <m:r>
                                      <a:rPr lang="en-US" altLang="zh-CN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∆</m:t>
                                    </m:r>
                                    <m:r>
                                      <a:rPr lang="zh-CN" altLang="en-US" sz="1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𝝂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𝒆𝒙𝒑</m:t>
                            </m:r>
                            <m:d>
                              <m:dPr>
                                <m:ctrlP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1" i="1" smtClean="0">
                                        <a:latin typeface="Cambria Math" panose="02040503050406030204" pitchFamily="18" charset="0"/>
                                      </a:rPr>
                                      <m:t>𝝓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sSub>
                                  <m:sSubPr>
                                    <m:ctrlP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1" i="1" smtClean="0">
                                        <a:latin typeface="Cambria Math" panose="02040503050406030204" pitchFamily="18" charset="0"/>
                                      </a:rPr>
                                      <m:t>𝝎</m:t>
                                    </m:r>
                                  </m:e>
                                  <m:sub>
                                    <m:r>
                                      <a:rPr lang="en-US" altLang="zh-CN" sz="1400" b="1" i="1" smtClean="0">
                                        <a:latin typeface="Cambria Math" panose="02040503050406030204" pitchFamily="18" charset="0"/>
                                      </a:rPr>
                                      <m:t>𝒎</m:t>
                                    </m:r>
                                  </m:sub>
                                </m:s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e>
                            </m:d>
                          </m:e>
                        </m:nary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93" name="文本框 9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30450" y="4322112"/>
                  <a:ext cx="3214213" cy="610039"/>
                </a:xfrm>
                <a:prstGeom prst="rect">
                  <a:avLst/>
                </a:prstGeom>
                <a:blipFill rotWithShape="0">
                  <a:blip r:embed="rId71"/>
                  <a:stretch>
                    <a:fillRect b="-1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4" name="左中括号 93"/>
            <p:cNvSpPr/>
            <p:nvPr/>
          </p:nvSpPr>
          <p:spPr>
            <a:xfrm rot="16200000">
              <a:off x="3050418" y="4553760"/>
              <a:ext cx="155113" cy="552261"/>
            </a:xfrm>
            <a:prstGeom prst="leftBracket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文本框 94"/>
            <p:cNvSpPr txBox="1"/>
            <p:nvPr/>
          </p:nvSpPr>
          <p:spPr>
            <a:xfrm>
              <a:off x="2735300" y="4891948"/>
              <a:ext cx="8002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单个频率</a:t>
              </a:r>
              <a:endParaRPr lang="en-US" altLang="zh-CN" sz="1200" dirty="0" smtClean="0"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r>
                <a:rPr lang="zh-CN" altLang="en-US" sz="12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区间功率</a:t>
              </a:r>
              <a:endPara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97" name="直接箭头连接符 96"/>
            <p:cNvCxnSpPr/>
            <p:nvPr/>
          </p:nvCxnSpPr>
          <p:spPr>
            <a:xfrm flipV="1">
              <a:off x="4286182" y="4752335"/>
              <a:ext cx="0" cy="279227"/>
            </a:xfrm>
            <a:prstGeom prst="straightConnector1">
              <a:avLst/>
            </a:prstGeom>
            <a:ln w="25400"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文本框 97"/>
            <p:cNvSpPr txBox="1"/>
            <p:nvPr/>
          </p:nvSpPr>
          <p:spPr>
            <a:xfrm>
              <a:off x="3887579" y="5005254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快速波动</a:t>
              </a:r>
              <a:endPara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文本框 98"/>
                <p:cNvSpPr txBox="1"/>
                <p:nvPr/>
              </p:nvSpPr>
              <p:spPr>
                <a:xfrm>
                  <a:off x="4778134" y="4816969"/>
                  <a:ext cx="1174232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𝑨𝑺𝑬</m:t>
                            </m:r>
                          </m:sub>
                        </m:sSub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1400" b="1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𝑮𝒉</m:t>
                        </m:r>
                        <m:r>
                          <a:rPr lang="zh-CN" altLang="en-US" sz="1400" b="1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𝝂</m:t>
                        </m:r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99" name="文本框 9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78134" y="4816969"/>
                  <a:ext cx="1174232" cy="215444"/>
                </a:xfrm>
                <a:prstGeom prst="rect">
                  <a:avLst/>
                </a:prstGeom>
                <a:blipFill rotWithShape="0">
                  <a:blip r:embed="rId72"/>
                  <a:stretch>
                    <a:fillRect l="-3125" r="-1042" b="-13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0" name="文本框 99"/>
            <p:cNvSpPr txBox="1"/>
            <p:nvPr/>
          </p:nvSpPr>
          <p:spPr>
            <a:xfrm>
              <a:off x="4739393" y="4984280"/>
              <a:ext cx="12618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噪声功率谱密度</a:t>
              </a:r>
              <a:endPara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/>
                <p:cNvSpPr txBox="1"/>
                <p:nvPr/>
              </p:nvSpPr>
              <p:spPr>
                <a:xfrm>
                  <a:off x="1964960" y="5712301"/>
                  <a:ext cx="2179571" cy="26090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𝑬</m:t>
                            </m:r>
                          </m:e>
                          <m:sub>
                            <m: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  <m:t>𝒊𝒏</m:t>
                            </m:r>
                          </m:sub>
                        </m:sSub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=</m:t>
                        </m:r>
                        <m:rad>
                          <m:radPr>
                            <m:degHide m:val="on"/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</m:e>
                              <m: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sub>
                            </m:sSub>
                          </m:e>
                        </m:rad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𝒆𝒙𝒑</m:t>
                        </m:r>
                        <m:d>
                          <m:dPr>
                            <m:ctrlPr>
                              <a:rPr lang="en-US" altLang="zh-CN" sz="14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</m:e>
                              <m: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sub>
                            </m:s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sSub>
                              <m:sSubPr>
                                <m:ctrlPr>
                                  <a:rPr lang="en-US" altLang="zh-CN" sz="1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400" b="1" i="1">
                                    <a:latin typeface="Cambria Math" panose="02040503050406030204" pitchFamily="18" charset="0"/>
                                  </a:rPr>
                                  <m:t>𝝎</m:t>
                                </m:r>
                              </m:e>
                              <m:sub>
                                <m:r>
                                  <a:rPr lang="en-US" altLang="zh-CN" sz="1400" b="1" i="1" smtClean="0">
                                    <a:latin typeface="Cambria Math" panose="02040503050406030204" pitchFamily="18" charset="0"/>
                                  </a:rPr>
                                  <m:t>𝒔</m:t>
                                </m:r>
                              </m:sub>
                            </m:s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𝒕</m:t>
                            </m:r>
                          </m:e>
                        </m:d>
                      </m:oMath>
                    </m:oMathPara>
                  </a14:m>
                  <a:endParaRPr lang="zh-CN" altLang="en-US" sz="1400" b="1" dirty="0"/>
                </a:p>
              </p:txBody>
            </p:sp>
          </mc:Choice>
          <mc:Fallback xmlns="">
            <p:sp>
              <p:nvSpPr>
                <p:cNvPr id="101" name="文本框 10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4960" y="5712301"/>
                  <a:ext cx="2179571" cy="260905"/>
                </a:xfrm>
                <a:prstGeom prst="rect">
                  <a:avLst/>
                </a:prstGeom>
                <a:blipFill rotWithShape="0">
                  <a:blip r:embed="rId73"/>
                  <a:stretch>
                    <a:fillRect l="-1397" b="-232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4113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流程图: 过程 170"/>
          <p:cNvSpPr/>
          <p:nvPr/>
        </p:nvSpPr>
        <p:spPr>
          <a:xfrm>
            <a:off x="5143500" y="44450"/>
            <a:ext cx="3668574" cy="1059503"/>
          </a:xfrm>
          <a:prstGeom prst="flowChartProcess">
            <a:avLst/>
          </a:prstGeom>
          <a:solidFill>
            <a:srgbClr val="1260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07950" y="44450"/>
            <a:ext cx="4240185" cy="884238"/>
            <a:chOff x="0" y="0"/>
            <a:chExt cx="6678" cy="1392"/>
          </a:xfrm>
        </p:grpSpPr>
        <p:sp>
          <p:nvSpPr>
            <p:cNvPr id="5" name="文本框 6"/>
            <p:cNvSpPr txBox="1">
              <a:spLocks noChangeArrowheads="1"/>
            </p:cNvSpPr>
            <p:nvPr/>
          </p:nvSpPr>
          <p:spPr bwMode="auto">
            <a:xfrm>
              <a:off x="0" y="0"/>
              <a:ext cx="2041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5200" b="1" dirty="0">
                  <a:solidFill>
                    <a:srgbClr val="136489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rPr>
                <a:t>01</a:t>
              </a:r>
            </a:p>
          </p:txBody>
        </p:sp>
        <p:sp>
          <p:nvSpPr>
            <p:cNvPr id="6" name="文本框 8"/>
            <p:cNvSpPr txBox="1">
              <a:spLocks noChangeArrowheads="1"/>
            </p:cNvSpPr>
            <p:nvPr/>
          </p:nvSpPr>
          <p:spPr bwMode="auto">
            <a:xfrm>
              <a:off x="1678" y="226"/>
              <a:ext cx="5000" cy="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300" b="1" dirty="0" smtClean="0">
                  <a:solidFill>
                    <a:srgbClr val="1364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光接收机噪声分析</a:t>
              </a:r>
              <a:endParaRPr lang="zh-CN" altLang="en-US" sz="2300" b="1" dirty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09230" y="849571"/>
            <a:ext cx="182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rPr>
              <a:t>信号与</a:t>
            </a:r>
            <a:r>
              <a:rPr lang="zh-CN" altLang="en-US" sz="16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噪声拍频项</a:t>
            </a:r>
            <a:endParaRPr lang="zh-CN" altLang="en-US" sz="1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68" name="组合 267"/>
          <p:cNvGrpSpPr/>
          <p:nvPr/>
        </p:nvGrpSpPr>
        <p:grpSpPr>
          <a:xfrm>
            <a:off x="478564" y="1213312"/>
            <a:ext cx="8426766" cy="1501313"/>
            <a:chOff x="478564" y="1213312"/>
            <a:chExt cx="8426766" cy="1501313"/>
          </a:xfrm>
        </p:grpSpPr>
        <p:sp>
          <p:nvSpPr>
            <p:cNvPr id="2" name="流程图: 过程 1"/>
            <p:cNvSpPr/>
            <p:nvPr/>
          </p:nvSpPr>
          <p:spPr>
            <a:xfrm>
              <a:off x="478564" y="1213312"/>
              <a:ext cx="8357787" cy="1501313"/>
            </a:xfrm>
            <a:prstGeom prst="flowChartProcess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" name="直接箭头连接符 69"/>
            <p:cNvCxnSpPr/>
            <p:nvPr/>
          </p:nvCxnSpPr>
          <p:spPr>
            <a:xfrm>
              <a:off x="5705911" y="1966416"/>
              <a:ext cx="1173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箭头连接符 70"/>
            <p:cNvCxnSpPr/>
            <p:nvPr/>
          </p:nvCxnSpPr>
          <p:spPr>
            <a:xfrm flipV="1">
              <a:off x="5695638" y="1544923"/>
              <a:ext cx="0" cy="4214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矩形 71"/>
            <p:cNvSpPr/>
            <p:nvPr/>
          </p:nvSpPr>
          <p:spPr>
            <a:xfrm>
              <a:off x="5869202" y="1706322"/>
              <a:ext cx="818797" cy="259391"/>
            </a:xfrm>
            <a:prstGeom prst="rect">
              <a:avLst/>
            </a:prstGeom>
            <a:solidFill>
              <a:schemeClr val="bg1">
                <a:alpha val="28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/>
                <p:cNvSpPr txBox="1"/>
                <p:nvPr/>
              </p:nvSpPr>
              <p:spPr>
                <a:xfrm>
                  <a:off x="5513567" y="1331633"/>
                  <a:ext cx="3481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zh-CN" altLang="en-US" sz="1400" b="1" i="1" dirty="0"/>
                </a:p>
              </p:txBody>
            </p:sp>
          </mc:Choice>
          <mc:Fallback xmlns="">
            <p:sp>
              <p:nvSpPr>
                <p:cNvPr id="73" name="文本框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3567" y="1331633"/>
                  <a:ext cx="348172" cy="307777"/>
                </a:xfrm>
                <a:prstGeom prst="rect">
                  <a:avLst/>
                </a:prstGeom>
                <a:blipFill rotWithShape="0"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4" name="直接箭头连接符 73"/>
            <p:cNvCxnSpPr/>
            <p:nvPr/>
          </p:nvCxnSpPr>
          <p:spPr>
            <a:xfrm>
              <a:off x="5884346" y="2044435"/>
              <a:ext cx="846328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文本框 74"/>
                <p:cNvSpPr txBox="1"/>
                <p:nvPr/>
              </p:nvSpPr>
              <p:spPr>
                <a:xfrm>
                  <a:off x="6214816" y="2010767"/>
                  <a:ext cx="222818" cy="2405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b="1" i="1" smtClean="0">
                          <a:latin typeface="Cambria Math" panose="02040503050406030204" pitchFamily="18" charset="0"/>
                        </a:rPr>
                        <m:t>𝑩</m:t>
                      </m:r>
                    </m:oMath>
                  </a14:m>
                  <a:r>
                    <a:rPr lang="en-US" altLang="zh-CN" sz="1600" b="1" baseline="-25000" dirty="0" smtClean="0"/>
                    <a:t>o</a:t>
                  </a:r>
                  <a:endParaRPr lang="zh-CN" altLang="en-US" sz="1600" b="1" baseline="-25000" dirty="0"/>
                </a:p>
              </p:txBody>
            </p:sp>
          </mc:Choice>
          <mc:Fallback xmlns="">
            <p:sp>
              <p:nvSpPr>
                <p:cNvPr id="75" name="文本框 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14816" y="2010767"/>
                  <a:ext cx="222818" cy="240579"/>
                </a:xfrm>
                <a:prstGeom prst="rect">
                  <a:avLst/>
                </a:prstGeom>
                <a:blipFill rotWithShape="0">
                  <a:blip r:embed="rId46"/>
                  <a:stretch>
                    <a:fillRect l="-29730" r="-35135" b="-487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" name="流程图: 过程 79"/>
            <p:cNvSpPr/>
            <p:nvPr/>
          </p:nvSpPr>
          <p:spPr>
            <a:xfrm>
              <a:off x="5874618" y="1706322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流程图: 过程 81"/>
            <p:cNvSpPr/>
            <p:nvPr/>
          </p:nvSpPr>
          <p:spPr>
            <a:xfrm>
              <a:off x="5975066" y="1705514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流程图: 过程 82"/>
            <p:cNvSpPr/>
            <p:nvPr/>
          </p:nvSpPr>
          <p:spPr>
            <a:xfrm>
              <a:off x="6075515" y="1707251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流程图: 过程 83"/>
            <p:cNvSpPr/>
            <p:nvPr/>
          </p:nvSpPr>
          <p:spPr>
            <a:xfrm>
              <a:off x="6181160" y="1714107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流程图: 过程 84"/>
            <p:cNvSpPr/>
            <p:nvPr/>
          </p:nvSpPr>
          <p:spPr>
            <a:xfrm>
              <a:off x="6279868" y="1714107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流程图: 过程 85"/>
            <p:cNvSpPr/>
            <p:nvPr/>
          </p:nvSpPr>
          <p:spPr>
            <a:xfrm>
              <a:off x="6380318" y="1705528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流程图: 过程 86"/>
            <p:cNvSpPr/>
            <p:nvPr/>
          </p:nvSpPr>
          <p:spPr>
            <a:xfrm>
              <a:off x="6480768" y="1707267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流程图: 过程 87"/>
            <p:cNvSpPr/>
            <p:nvPr/>
          </p:nvSpPr>
          <p:spPr>
            <a:xfrm>
              <a:off x="6586411" y="1714123"/>
              <a:ext cx="101588" cy="259391"/>
            </a:xfrm>
            <a:prstGeom prst="flowChartProcess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等腰三角形 88"/>
            <p:cNvSpPr/>
            <p:nvPr/>
          </p:nvSpPr>
          <p:spPr>
            <a:xfrm>
              <a:off x="6257102" y="1345532"/>
              <a:ext cx="45719" cy="620181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文本框 95"/>
                <p:cNvSpPr txBox="1"/>
                <p:nvPr/>
              </p:nvSpPr>
              <p:spPr>
                <a:xfrm>
                  <a:off x="6767380" y="1778893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1" i="1" smtClean="0">
                            <a:latin typeface="Cambria Math" panose="02040503050406030204" pitchFamily="18" charset="0"/>
                          </a:rPr>
                          <m:t>𝝀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96" name="文本框 9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67380" y="1778893"/>
                  <a:ext cx="367408" cy="369332"/>
                </a:xfrm>
                <a:prstGeom prst="rect">
                  <a:avLst/>
                </a:prstGeom>
                <a:blipFill rotWithShape="0">
                  <a:blip r:embed="rId4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3" name="直接箭头连接符 102"/>
            <p:cNvCxnSpPr/>
            <p:nvPr/>
          </p:nvCxnSpPr>
          <p:spPr>
            <a:xfrm>
              <a:off x="7476453" y="2002205"/>
              <a:ext cx="117360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/>
            <p:nvPr/>
          </p:nvCxnSpPr>
          <p:spPr>
            <a:xfrm flipV="1">
              <a:off x="7466180" y="1580712"/>
              <a:ext cx="0" cy="42149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矩形 104"/>
            <p:cNvSpPr/>
            <p:nvPr/>
          </p:nvSpPr>
          <p:spPr>
            <a:xfrm>
              <a:off x="7639744" y="1678295"/>
              <a:ext cx="818797" cy="323208"/>
            </a:xfrm>
            <a:prstGeom prst="rect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/>
                <p:cNvSpPr txBox="1"/>
                <p:nvPr/>
              </p:nvSpPr>
              <p:spPr>
                <a:xfrm>
                  <a:off x="7283623" y="1381823"/>
                  <a:ext cx="34817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oMath>
                    </m:oMathPara>
                  </a14:m>
                  <a:endParaRPr lang="zh-CN" altLang="en-US" sz="1400" b="1" i="1" dirty="0"/>
                </a:p>
              </p:txBody>
            </p:sp>
          </mc:Choice>
          <mc:Fallback xmlns="">
            <p:sp>
              <p:nvSpPr>
                <p:cNvPr id="106" name="文本框 10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3623" y="1381823"/>
                  <a:ext cx="348172" cy="307777"/>
                </a:xfrm>
                <a:prstGeom prst="rect">
                  <a:avLst/>
                </a:prstGeom>
                <a:blipFill rotWithShape="0"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" name="直接箭头连接符 106"/>
            <p:cNvCxnSpPr/>
            <p:nvPr/>
          </p:nvCxnSpPr>
          <p:spPr>
            <a:xfrm>
              <a:off x="7625610" y="1580712"/>
              <a:ext cx="42480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流程图: 过程 109"/>
            <p:cNvSpPr/>
            <p:nvPr/>
          </p:nvSpPr>
          <p:spPr>
            <a:xfrm>
              <a:off x="7645160" y="1683210"/>
              <a:ext cx="101588" cy="323208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流程图: 过程 110"/>
            <p:cNvSpPr/>
            <p:nvPr/>
          </p:nvSpPr>
          <p:spPr>
            <a:xfrm>
              <a:off x="7745608" y="1677487"/>
              <a:ext cx="101588" cy="323208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流程图: 过程 111"/>
            <p:cNvSpPr/>
            <p:nvPr/>
          </p:nvSpPr>
          <p:spPr>
            <a:xfrm>
              <a:off x="7846057" y="1684139"/>
              <a:ext cx="101588" cy="323208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流程图: 过程 112"/>
            <p:cNvSpPr/>
            <p:nvPr/>
          </p:nvSpPr>
          <p:spPr>
            <a:xfrm>
              <a:off x="7951702" y="1676141"/>
              <a:ext cx="101588" cy="323208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流程图: 过程 113"/>
            <p:cNvSpPr/>
            <p:nvPr/>
          </p:nvSpPr>
          <p:spPr>
            <a:xfrm>
              <a:off x="8050410" y="1676141"/>
              <a:ext cx="101588" cy="323208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流程图: 过程 114"/>
            <p:cNvSpPr/>
            <p:nvPr/>
          </p:nvSpPr>
          <p:spPr>
            <a:xfrm>
              <a:off x="8150860" y="1677501"/>
              <a:ext cx="101588" cy="323208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流程图: 过程 115"/>
            <p:cNvSpPr/>
            <p:nvPr/>
          </p:nvSpPr>
          <p:spPr>
            <a:xfrm>
              <a:off x="8251310" y="1684155"/>
              <a:ext cx="101588" cy="323208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流程图: 过程 116"/>
            <p:cNvSpPr/>
            <p:nvPr/>
          </p:nvSpPr>
          <p:spPr>
            <a:xfrm>
              <a:off x="8356953" y="1676157"/>
              <a:ext cx="101588" cy="323208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文本框 118"/>
                <p:cNvSpPr txBox="1"/>
                <p:nvPr/>
              </p:nvSpPr>
              <p:spPr>
                <a:xfrm>
                  <a:off x="8537922" y="1814682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119" name="文本框 1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37922" y="1814682"/>
                  <a:ext cx="367408" cy="369332"/>
                </a:xfrm>
                <a:prstGeom prst="rect">
                  <a:avLst/>
                </a:prstGeom>
                <a:blipFill rotWithShape="0">
                  <a:blip r:embed="rId48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7472759" y="1269663"/>
                  <a:ext cx="728579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altLang="zh-CN" sz="1400" b="1" i="1">
                            <a:latin typeface="Cambria Math" panose="02040503050406030204" pitchFamily="18" charset="0"/>
                          </a:rPr>
                          <m:t>𝟐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" name="矩形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2759" y="1269663"/>
                  <a:ext cx="728579" cy="307777"/>
                </a:xfrm>
                <a:prstGeom prst="rect">
                  <a:avLst/>
                </a:prstGeom>
                <a:blipFill rotWithShape="0">
                  <a:blip r:embed="rId36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文本框 21"/>
            <p:cNvSpPr txBox="1"/>
            <p:nvPr/>
          </p:nvSpPr>
          <p:spPr>
            <a:xfrm>
              <a:off x="7922458" y="1937923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/>
                <a:t>0</a:t>
              </a:r>
              <a:endParaRPr lang="zh-CN" altLang="en-US" sz="1400" dirty="0"/>
            </a:p>
          </p:txBody>
        </p:sp>
        <p:sp>
          <p:nvSpPr>
            <p:cNvPr id="23" name="右箭头 22"/>
            <p:cNvSpPr/>
            <p:nvPr/>
          </p:nvSpPr>
          <p:spPr>
            <a:xfrm>
              <a:off x="7078537" y="1762663"/>
              <a:ext cx="241178" cy="78193"/>
            </a:xfrm>
            <a:prstGeom prst="right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614604" y="1277720"/>
                  <a:ext cx="4763292" cy="605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𝑠𝑖𝑔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𝑠𝑝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>
                              <m:sSub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400" b="0" i="1" smtClean="0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𝑃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e>
                                  <m:sub>
                                    <m:r>
                                      <a:rPr lang="en-US" altLang="zh-CN" sz="1400" b="0" i="1" smtClean="0">
                                        <a:latin typeface="Cambria Math" panose="02040503050406030204" pitchFamily="18" charset="0"/>
                                      </a:rPr>
                                      <m:t>𝐴𝑆𝐸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l-GR" altLang="zh-CN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r>
                                  <a:rPr lang="zh-CN" altLang="el-G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𝜈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1/2</m:t>
                            </m:r>
                          </m:sup>
                        </m:sSup>
                        <m:nary>
                          <m:naryPr>
                            <m:chr m:val="∑"/>
                            <m:ctrlPr>
                              <a:rPr lang="zh-CN" altLang="en-US" sz="1400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sup>
                          <m:e>
                            <m:r>
                              <a:rPr lang="en-US" altLang="zh-CN" sz="1400" b="0" i="1" dirty="0" smtClean="0">
                                <a:latin typeface="Cambria Math" panose="02040503050406030204" pitchFamily="18" charset="0"/>
                              </a:rPr>
                              <m:t>𝑐𝑜𝑠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zh-CN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1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sub>
                                    </m:sSub>
                                    <m:r>
                                      <a:rPr lang="en-US" altLang="zh-CN" sz="1400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zh-CN" sz="14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zh-CN" altLang="en-US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CN" sz="1400" b="0" i="1" dirty="0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zh-CN" sz="1400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  <m:r>
                                  <a:rPr lang="en-US" altLang="zh-CN" sz="14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14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1400" b="0" i="1" dirty="0" smtClean="0"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  <m:sub>
                                    <m:r>
                                      <a:rPr lang="en-US" altLang="zh-CN" sz="1400" b="0" i="1" dirty="0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604" y="1277720"/>
                  <a:ext cx="4763292" cy="605807"/>
                </a:xfrm>
                <a:prstGeom prst="rect">
                  <a:avLst/>
                </a:prstGeom>
                <a:blipFill rotWithShape="0">
                  <a:blip r:embed="rId4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/>
                <p:cNvSpPr txBox="1"/>
                <p:nvPr/>
              </p:nvSpPr>
              <p:spPr>
                <a:xfrm>
                  <a:off x="614604" y="1877182"/>
                  <a:ext cx="1007905" cy="24731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𝑠𝑖𝑔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400" i="1">
                                    <a:latin typeface="Cambria Math" panose="02040503050406030204" pitchFamily="18" charset="0"/>
                                  </a:rPr>
                                  <m:t>𝑠𝑝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40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31" name="文本框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604" y="1877182"/>
                  <a:ext cx="1007905" cy="247312"/>
                </a:xfrm>
                <a:prstGeom prst="rect">
                  <a:avLst/>
                </a:prstGeom>
                <a:blipFill rotWithShape="0">
                  <a:blip r:embed="rId50"/>
                  <a:stretch>
                    <a:fillRect r="-3636" b="-1951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0" name="文本框 89"/>
            <p:cNvSpPr txBox="1"/>
            <p:nvPr/>
          </p:nvSpPr>
          <p:spPr>
            <a:xfrm>
              <a:off x="511821" y="2235831"/>
              <a:ext cx="162095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仿宋" panose="02010609060101010101" pitchFamily="49" charset="-122"/>
                  <a:ea typeface="仿宋" panose="02010609060101010101" pitchFamily="49" charset="-122"/>
                </a:rPr>
                <a:t>噪声电流的方差</a:t>
              </a:r>
              <a:endPara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120" name="左中括号 119"/>
            <p:cNvSpPr/>
            <p:nvPr/>
          </p:nvSpPr>
          <p:spPr>
            <a:xfrm rot="16200000">
              <a:off x="7985364" y="1968564"/>
              <a:ext cx="133810" cy="430439"/>
            </a:xfrm>
            <a:prstGeom prst="leftBracket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文本框 120"/>
            <p:cNvSpPr txBox="1"/>
            <p:nvPr/>
          </p:nvSpPr>
          <p:spPr>
            <a:xfrm>
              <a:off x="7506479" y="2307395"/>
              <a:ext cx="11079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有效噪声带宽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2166035" y="2256609"/>
                  <a:ext cx="2491195" cy="3235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𝑠𝑖𝑔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𝑠𝑝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altLang="zh-CN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𝐴𝑆𝐸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l-GR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6035" y="2256609"/>
                  <a:ext cx="2491195" cy="323550"/>
                </a:xfrm>
                <a:prstGeom prst="rect">
                  <a:avLst/>
                </a:prstGeom>
                <a:blipFill rotWithShape="0">
                  <a:blip r:embed="rId45"/>
                  <a:stretch>
                    <a:fillRect l="-978" r="-2689" b="-2830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3" name="组合 272"/>
          <p:cNvGrpSpPr/>
          <p:nvPr/>
        </p:nvGrpSpPr>
        <p:grpSpPr>
          <a:xfrm>
            <a:off x="409230" y="2788701"/>
            <a:ext cx="8402840" cy="3726399"/>
            <a:chOff x="409230" y="2788701"/>
            <a:chExt cx="8402840" cy="3726399"/>
          </a:xfrm>
        </p:grpSpPr>
        <p:sp>
          <p:nvSpPr>
            <p:cNvPr id="122" name="矩形 121"/>
            <p:cNvSpPr/>
            <p:nvPr/>
          </p:nvSpPr>
          <p:spPr>
            <a:xfrm>
              <a:off x="409230" y="2788701"/>
              <a:ext cx="1826141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rPr>
                <a:t>噪声</a:t>
              </a:r>
              <a:r>
                <a:rPr lang="zh-CN" altLang="en-US" sz="16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与噪声拍频项</a:t>
              </a:r>
              <a:endParaRPr lang="zh-CN" altLang="en-US" sz="16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172" name="组合 171"/>
            <p:cNvGrpSpPr/>
            <p:nvPr/>
          </p:nvGrpSpPr>
          <p:grpSpPr>
            <a:xfrm>
              <a:off x="454283" y="3157856"/>
              <a:ext cx="8357787" cy="3357244"/>
              <a:chOff x="454286" y="3157856"/>
              <a:chExt cx="8357787" cy="2966719"/>
            </a:xfrm>
            <a:solidFill>
              <a:schemeClr val="bg1"/>
            </a:solidFill>
          </p:grpSpPr>
          <p:sp>
            <p:nvSpPr>
              <p:cNvPr id="123" name="流程图: 过程 122"/>
              <p:cNvSpPr/>
              <p:nvPr/>
            </p:nvSpPr>
            <p:spPr>
              <a:xfrm>
                <a:off x="454286" y="3157856"/>
                <a:ext cx="8357787" cy="2966719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/>
                  <p:cNvSpPr txBox="1"/>
                  <p:nvPr/>
                </p:nvSpPr>
                <p:spPr>
                  <a:xfrm>
                    <a:off x="557454" y="3201331"/>
                    <a:ext cx="4452244" cy="605807"/>
                  </a:xfrm>
                  <a:prstGeom prst="rect">
                    <a:avLst/>
                  </a:prstGeom>
                  <a:grp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𝑠𝑝</m:t>
                              </m:r>
                            </m:sub>
                          </m:sSub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sz="1400" b="0" i="1" smtClean="0">
                                  <a:latin typeface="Cambria Math" panose="02040503050406030204" pitchFamily="18" charset="0"/>
                                </a:rPr>
                                <m:t>𝐴𝑆𝐸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l-GR" altLang="zh-CN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l-G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  <m:nary>
                            <m:naryPr>
                              <m:chr m:val="∑"/>
                              <m:ctrlPr>
                                <a:rPr lang="zh-CN" alt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p>
                                <m:e>
                                  <m:r>
                                    <a:rPr lang="en-US" altLang="zh-CN" sz="1400" b="0" i="1" dirty="0" smtClean="0">
                                      <a:latin typeface="Cambria Math" panose="02040503050406030204" pitchFamily="18" charset="0"/>
                                    </a:rPr>
                                    <m:t>𝑐𝑜𝑠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US" altLang="zh-CN" sz="14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ctrlPr>
                                            <a:rPr lang="en-US" altLang="zh-CN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𝑚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1400" i="1" dirty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1400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zh-CN" altLang="en-US" sz="1400" i="1" dirty="0">
                                                  <a:latin typeface="Cambria Math" panose="02040503050406030204" pitchFamily="18" charset="0"/>
                                                </a:rPr>
                                                <m:t>𝜔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400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sub>
                                      </m:sSub>
                                      <m:r>
                                        <a:rPr lang="en-US" altLang="zh-CN" sz="1400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CN" sz="14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zh-CN" altLang="en-US" sz="140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400" b="0" i="1" dirty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124" name="文本框 12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7454" y="3201331"/>
                    <a:ext cx="4452244" cy="605807"/>
                  </a:xfrm>
                  <a:prstGeom prst="rect">
                    <a:avLst/>
                  </a:prstGeom>
                  <a:blipFill rotWithShape="0">
                    <a:blip r:embed="rId8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/>
              <p:cNvSpPr txBox="1"/>
              <p:nvPr/>
            </p:nvSpPr>
            <p:spPr>
              <a:xfrm>
                <a:off x="5263519" y="53922"/>
                <a:ext cx="3214213" cy="610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𝒄𝒑</m:t>
                          </m:r>
                        </m:sub>
                      </m:sSub>
                      <m:r>
                        <a:rPr lang="en-US" altLang="zh-CN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𝑴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𝑨𝑺𝑬</m:t>
                                      </m:r>
                                    </m:sub>
                                  </m:sSub>
                                  <m:r>
                                    <a:rPr lang="en-US" altLang="zh-CN" sz="1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∆</m:t>
                                  </m:r>
                                  <m:r>
                                    <a:rPr lang="zh-CN" altLang="en-US" sz="1400" b="1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𝝂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𝒆𝒙𝒑</m:t>
                          </m:r>
                          <m:d>
                            <m:dPr>
                              <m:ctrlP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sSub>
                                <m:sSubPr>
                                  <m:ctrlPr>
                                    <a:rPr lang="en-US" altLang="zh-CN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𝝓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sSub>
                                <m:sSubPr>
                                  <m:ctrlPr>
                                    <a:rPr lang="en-US" altLang="zh-CN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𝝎</m:t>
                                  </m:r>
                                </m:e>
                                <m:sub>
                                  <m:r>
                                    <a:rPr lang="en-US" altLang="zh-CN" sz="1400" b="1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𝒎</m:t>
                                  </m:r>
                                </m:sub>
                              </m:sSub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9" name="文本框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3519" y="53922"/>
                <a:ext cx="3214213" cy="610039"/>
              </a:xfrm>
              <a:prstGeom prst="rect">
                <a:avLst/>
              </a:prstGeom>
              <a:blipFill rotWithShape="0">
                <a:blip r:embed="rId60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/>
              <p:cNvSpPr txBox="1"/>
              <p:nvPr/>
            </p:nvSpPr>
            <p:spPr>
              <a:xfrm>
                <a:off x="5278138" y="712314"/>
                <a:ext cx="2179571" cy="2609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</m:sub>
                      </m:sSub>
                      <m:r>
                        <a:rPr lang="en-US" altLang="zh-CN" sz="1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𝑷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</m:e>
                      </m:rad>
                      <m:r>
                        <a:rPr lang="en-US" altLang="zh-CN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𝒆𝒙𝒑</m:t>
                      </m:r>
                      <m:d>
                        <m:dPr>
                          <m:ctrlPr>
                            <a:rPr lang="en-US" altLang="zh-CN" sz="14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zh-CN" altLang="en-US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𝝓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r>
                            <a:rPr lang="en-US" altLang="zh-CN" sz="1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sSub>
                            <m:sSubPr>
                              <m:ctrlPr>
                                <a:rPr lang="en-US" altLang="zh-CN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1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𝝎</m:t>
                              </m:r>
                            </m:e>
                            <m:sub>
                              <m:r>
                                <a:rPr lang="en-US" altLang="zh-CN" sz="14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b>
                          </m:sSub>
                          <m:r>
                            <a:rPr lang="en-US" altLang="zh-CN" sz="1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</m:oMath>
                  </m:oMathPara>
                </a14:m>
                <a:endParaRPr lang="zh-CN" altLang="en-US" sz="14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0" name="文本框 1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138" y="712314"/>
                <a:ext cx="2179571" cy="260905"/>
              </a:xfrm>
              <a:prstGeom prst="rect">
                <a:avLst/>
              </a:prstGeom>
              <a:blipFill rotWithShape="0">
                <a:blip r:embed="rId61"/>
                <a:stretch>
                  <a:fillRect l="-1401" b="-209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4" name="组合 273"/>
          <p:cNvGrpSpPr/>
          <p:nvPr/>
        </p:nvGrpSpPr>
        <p:grpSpPr>
          <a:xfrm>
            <a:off x="494454" y="3250052"/>
            <a:ext cx="6441924" cy="2391232"/>
            <a:chOff x="494454" y="3250052"/>
            <a:chExt cx="6441924" cy="23912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/>
                <p:cNvSpPr txBox="1"/>
                <p:nvPr/>
              </p:nvSpPr>
              <p:spPr>
                <a:xfrm>
                  <a:off x="499708" y="3920078"/>
                  <a:ext cx="85074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𝑚</m:t>
                        </m:r>
                        <m:r>
                          <a:rPr lang="en-US" altLang="zh-CN" sz="16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oMath>
                    </m:oMathPara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6" name="文本框 16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9708" y="3920078"/>
                  <a:ext cx="850746" cy="338554"/>
                </a:xfrm>
                <a:prstGeom prst="rect">
                  <a:avLst/>
                </a:prstGeom>
                <a:blipFill rotWithShape="0">
                  <a:blip r:embed="rId5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矩形 166"/>
                <p:cNvSpPr/>
                <p:nvPr/>
              </p:nvSpPr>
              <p:spPr>
                <a:xfrm>
                  <a:off x="494454" y="4250369"/>
                  <a:ext cx="4418454" cy="37401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⟨"/>
                            <m:endChr m:val="⟩"/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600" i="1">
                                    <a:latin typeface="Cambria Math" panose="02040503050406030204" pitchFamily="18" charset="0"/>
                                  </a:rPr>
                                  <m:t>𝑠𝑝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6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𝐴𝑆𝐸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l-GR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zh-CN" altLang="el-GR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≡2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𝐴𝑆𝐸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altLang="zh-CN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𝐴𝑆𝐸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7" name="矩形 16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4454" y="4250369"/>
                  <a:ext cx="4418454" cy="374013"/>
                </a:xfrm>
                <a:prstGeom prst="rect">
                  <a:avLst/>
                </a:prstGeom>
                <a:blipFill rotWithShape="0">
                  <a:blip r:embed="rId59"/>
                  <a:stretch>
                    <a:fillRect b="-161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5" name="组合 174"/>
            <p:cNvGrpSpPr/>
            <p:nvPr/>
          </p:nvGrpSpPr>
          <p:grpSpPr>
            <a:xfrm>
              <a:off x="5142709" y="3250052"/>
              <a:ext cx="1793669" cy="2391232"/>
              <a:chOff x="5218909" y="3288152"/>
              <a:chExt cx="1793669" cy="2391232"/>
            </a:xfrm>
          </p:grpSpPr>
          <p:cxnSp>
            <p:nvCxnSpPr>
              <p:cNvPr id="125" name="直接箭头连接符 124"/>
              <p:cNvCxnSpPr/>
              <p:nvPr/>
            </p:nvCxnSpPr>
            <p:spPr>
              <a:xfrm>
                <a:off x="5441749" y="3922935"/>
                <a:ext cx="1173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箭头连接符 125"/>
              <p:cNvCxnSpPr/>
              <p:nvPr/>
            </p:nvCxnSpPr>
            <p:spPr>
              <a:xfrm flipV="1">
                <a:off x="5431476" y="3501442"/>
                <a:ext cx="0" cy="4214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矩形 126"/>
              <p:cNvSpPr/>
              <p:nvPr/>
            </p:nvSpPr>
            <p:spPr>
              <a:xfrm>
                <a:off x="5605040" y="3653316"/>
                <a:ext cx="818797" cy="259391"/>
              </a:xfrm>
              <a:prstGeom prst="rect">
                <a:avLst/>
              </a:prstGeom>
              <a:solidFill>
                <a:schemeClr val="bg1">
                  <a:alpha val="28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8" name="文本框 127"/>
                  <p:cNvSpPr txBox="1"/>
                  <p:nvPr/>
                </p:nvSpPr>
                <p:spPr>
                  <a:xfrm>
                    <a:off x="5249405" y="3288152"/>
                    <a:ext cx="34817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zh-CN" altLang="en-US" sz="1400" b="1" i="1" dirty="0"/>
                  </a:p>
                </p:txBody>
              </p:sp>
            </mc:Choice>
            <mc:Fallback xmlns="">
              <p:sp>
                <p:nvSpPr>
                  <p:cNvPr id="128" name="文本框 12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9405" y="3288152"/>
                    <a:ext cx="348172" cy="307777"/>
                  </a:xfrm>
                  <a:prstGeom prst="rect">
                    <a:avLst/>
                  </a:prstGeom>
                  <a:blipFill rotWithShape="0"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31" name="流程图: 过程 130"/>
              <p:cNvSpPr/>
              <p:nvPr/>
            </p:nvSpPr>
            <p:spPr>
              <a:xfrm>
                <a:off x="5610456" y="3653316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流程图: 过程 131"/>
              <p:cNvSpPr/>
              <p:nvPr/>
            </p:nvSpPr>
            <p:spPr>
              <a:xfrm>
                <a:off x="5710904" y="3662033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流程图: 过程 132"/>
              <p:cNvSpPr/>
              <p:nvPr/>
            </p:nvSpPr>
            <p:spPr>
              <a:xfrm>
                <a:off x="5811353" y="3654245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流程图: 过程 133"/>
              <p:cNvSpPr/>
              <p:nvPr/>
            </p:nvSpPr>
            <p:spPr>
              <a:xfrm>
                <a:off x="5916998" y="3660687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流程图: 过程 134"/>
              <p:cNvSpPr/>
              <p:nvPr/>
            </p:nvSpPr>
            <p:spPr>
              <a:xfrm>
                <a:off x="6015706" y="3660687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流程图: 过程 135"/>
              <p:cNvSpPr/>
              <p:nvPr/>
            </p:nvSpPr>
            <p:spPr>
              <a:xfrm>
                <a:off x="6116156" y="3662047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流程图: 过程 136"/>
              <p:cNvSpPr/>
              <p:nvPr/>
            </p:nvSpPr>
            <p:spPr>
              <a:xfrm>
                <a:off x="6216606" y="3654261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流程图: 过程 137"/>
              <p:cNvSpPr/>
              <p:nvPr/>
            </p:nvSpPr>
            <p:spPr>
              <a:xfrm>
                <a:off x="6322249" y="3660703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0" name="文本框 139"/>
                  <p:cNvSpPr txBox="1"/>
                  <p:nvPr/>
                </p:nvSpPr>
                <p:spPr>
                  <a:xfrm>
                    <a:off x="6503218" y="3735412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140" name="文本框 1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03218" y="3735412"/>
                    <a:ext cx="367408" cy="369332"/>
                  </a:xfrm>
                  <a:prstGeom prst="rect">
                    <a:avLst/>
                  </a:prstGeom>
                  <a:blipFill rotWithShape="0">
                    <a:blip r:embed="rId6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1" name="直接箭头连接符 140"/>
              <p:cNvCxnSpPr/>
              <p:nvPr/>
            </p:nvCxnSpPr>
            <p:spPr>
              <a:xfrm>
                <a:off x="5441749" y="5044514"/>
                <a:ext cx="1173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直接箭头连接符 141"/>
              <p:cNvCxnSpPr/>
              <p:nvPr/>
            </p:nvCxnSpPr>
            <p:spPr>
              <a:xfrm flipV="1">
                <a:off x="5431476" y="4623021"/>
                <a:ext cx="0" cy="4214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3" name="矩形 142"/>
              <p:cNvSpPr/>
              <p:nvPr/>
            </p:nvSpPr>
            <p:spPr>
              <a:xfrm>
                <a:off x="5605040" y="4774895"/>
                <a:ext cx="818797" cy="259391"/>
              </a:xfrm>
              <a:prstGeom prst="rect">
                <a:avLst/>
              </a:prstGeom>
              <a:solidFill>
                <a:schemeClr val="bg1">
                  <a:alpha val="28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文本框 143"/>
                  <p:cNvSpPr txBox="1"/>
                  <p:nvPr/>
                </p:nvSpPr>
                <p:spPr>
                  <a:xfrm>
                    <a:off x="5249405" y="4409731"/>
                    <a:ext cx="34817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zh-CN" altLang="en-US" sz="1400" b="1" i="1" dirty="0"/>
                  </a:p>
                </p:txBody>
              </p:sp>
            </mc:Choice>
            <mc:Fallback xmlns="">
              <p:sp>
                <p:nvSpPr>
                  <p:cNvPr id="144" name="文本框 1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49405" y="4409731"/>
                    <a:ext cx="348172" cy="307777"/>
                  </a:xfrm>
                  <a:prstGeom prst="rect">
                    <a:avLst/>
                  </a:prstGeom>
                  <a:blipFill rotWithShape="0"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5" name="直接箭头连接符 144"/>
              <p:cNvCxnSpPr/>
              <p:nvPr/>
            </p:nvCxnSpPr>
            <p:spPr>
              <a:xfrm>
                <a:off x="5620184" y="5122533"/>
                <a:ext cx="84632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6" name="文本框 145"/>
                  <p:cNvSpPr txBox="1"/>
                  <p:nvPr/>
                </p:nvSpPr>
                <p:spPr>
                  <a:xfrm>
                    <a:off x="5950654" y="5088865"/>
                    <a:ext cx="222818" cy="2405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a14:m>
                    <a:r>
                      <a:rPr lang="en-US" altLang="zh-CN" sz="1600" b="1" baseline="-25000" dirty="0" smtClean="0"/>
                      <a:t>o</a:t>
                    </a:r>
                    <a:endParaRPr lang="zh-CN" altLang="en-US" sz="1600" b="1" baseline="-25000" dirty="0"/>
                  </a:p>
                </p:txBody>
              </p:sp>
            </mc:Choice>
            <mc:Fallback xmlns="">
              <p:sp>
                <p:nvSpPr>
                  <p:cNvPr id="146" name="文本框 14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50654" y="5088865"/>
                    <a:ext cx="222818" cy="240579"/>
                  </a:xfrm>
                  <a:prstGeom prst="rect">
                    <a:avLst/>
                  </a:prstGeom>
                  <a:blipFill rotWithShape="0">
                    <a:blip r:embed="rId69"/>
                    <a:stretch>
                      <a:fillRect l="-33333" r="-36111" b="-4871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7" name="流程图: 过程 146"/>
              <p:cNvSpPr/>
              <p:nvPr/>
            </p:nvSpPr>
            <p:spPr>
              <a:xfrm>
                <a:off x="5610456" y="4774895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流程图: 过程 147"/>
              <p:cNvSpPr/>
              <p:nvPr/>
            </p:nvSpPr>
            <p:spPr>
              <a:xfrm>
                <a:off x="5710904" y="4783612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流程图: 过程 148"/>
              <p:cNvSpPr/>
              <p:nvPr/>
            </p:nvSpPr>
            <p:spPr>
              <a:xfrm>
                <a:off x="5811353" y="4775824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流程图: 过程 149"/>
              <p:cNvSpPr/>
              <p:nvPr/>
            </p:nvSpPr>
            <p:spPr>
              <a:xfrm>
                <a:off x="5916998" y="4782266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流程图: 过程 150"/>
              <p:cNvSpPr/>
              <p:nvPr/>
            </p:nvSpPr>
            <p:spPr>
              <a:xfrm>
                <a:off x="6015706" y="4782266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流程图: 过程 151"/>
              <p:cNvSpPr/>
              <p:nvPr/>
            </p:nvSpPr>
            <p:spPr>
              <a:xfrm>
                <a:off x="6116156" y="4783626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流程图: 过程 152"/>
              <p:cNvSpPr/>
              <p:nvPr/>
            </p:nvSpPr>
            <p:spPr>
              <a:xfrm>
                <a:off x="6216606" y="4775840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流程图: 过程 153"/>
              <p:cNvSpPr/>
              <p:nvPr/>
            </p:nvSpPr>
            <p:spPr>
              <a:xfrm>
                <a:off x="6322249" y="4782282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5" name="文本框 154"/>
                  <p:cNvSpPr txBox="1"/>
                  <p:nvPr/>
                </p:nvSpPr>
                <p:spPr>
                  <a:xfrm>
                    <a:off x="6503218" y="4856991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155" name="文本框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03218" y="4856991"/>
                    <a:ext cx="367408" cy="369332"/>
                  </a:xfrm>
                  <a:prstGeom prst="rect">
                    <a:avLst/>
                  </a:prstGeom>
                  <a:blipFill rotWithShape="0">
                    <a:blip r:embed="rId7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3" name="左中括号 32"/>
              <p:cNvSpPr/>
              <p:nvPr/>
            </p:nvSpPr>
            <p:spPr>
              <a:xfrm>
                <a:off x="5249405" y="4409731"/>
                <a:ext cx="182071" cy="816592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6" name="右中括号 35"/>
              <p:cNvSpPr/>
              <p:nvPr/>
            </p:nvSpPr>
            <p:spPr>
              <a:xfrm>
                <a:off x="6639792" y="4419600"/>
                <a:ext cx="122362" cy="817200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1" name="文本框 80"/>
                  <p:cNvSpPr txBox="1"/>
                  <p:nvPr/>
                </p:nvSpPr>
                <p:spPr>
                  <a:xfrm>
                    <a:off x="5218909" y="3921397"/>
                    <a:ext cx="386323" cy="4924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CN" altLang="en-US" sz="32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mc:Choice>
            <mc:Fallback xmlns="">
              <p:sp>
                <p:nvSpPr>
                  <p:cNvPr id="81" name="文本框 8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18909" y="3921397"/>
                    <a:ext cx="386323" cy="492443"/>
                  </a:xfrm>
                  <a:prstGeom prst="rect">
                    <a:avLst/>
                  </a:prstGeom>
                  <a:blipFill rotWithShape="0">
                    <a:blip r:embed="rId7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0" name="直接箭头连接符 159"/>
              <p:cNvCxnSpPr/>
              <p:nvPr/>
            </p:nvCxnSpPr>
            <p:spPr>
              <a:xfrm>
                <a:off x="5754328" y="3951051"/>
                <a:ext cx="7370" cy="81431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直接箭头连接符 160"/>
              <p:cNvCxnSpPr/>
              <p:nvPr/>
            </p:nvCxnSpPr>
            <p:spPr>
              <a:xfrm>
                <a:off x="6163265" y="3941756"/>
                <a:ext cx="7370" cy="81431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接箭头连接符 161"/>
              <p:cNvCxnSpPr/>
              <p:nvPr/>
            </p:nvCxnSpPr>
            <p:spPr>
              <a:xfrm>
                <a:off x="5982139" y="3950738"/>
                <a:ext cx="7370" cy="814319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4" name="文本框 163"/>
                  <p:cNvSpPr txBox="1"/>
                  <p:nvPr/>
                </p:nvSpPr>
                <p:spPr>
                  <a:xfrm>
                    <a:off x="5667162" y="5340830"/>
                    <a:ext cx="850746" cy="33855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𝑚</m:t>
                          </m:r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oMath>
                      </m:oMathPara>
                    </a14:m>
                    <a:endPara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164" name="文本框 16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67162" y="5340830"/>
                    <a:ext cx="850746" cy="338554"/>
                  </a:xfrm>
                  <a:prstGeom prst="rect">
                    <a:avLst/>
                  </a:prstGeom>
                  <a:blipFill rotWithShape="0">
                    <a:blip r:embed="rId7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74" name="文本框 173"/>
              <p:cNvSpPr txBox="1"/>
              <p:nvPr/>
            </p:nvSpPr>
            <p:spPr>
              <a:xfrm>
                <a:off x="6468839" y="4167618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共轭</a:t>
                </a:r>
              </a:p>
            </p:txBody>
          </p:sp>
        </p:grpSp>
      </p:grpSp>
      <p:sp>
        <p:nvSpPr>
          <p:cNvPr id="231" name="流程图: 过程 230"/>
          <p:cNvSpPr/>
          <p:nvPr/>
        </p:nvSpPr>
        <p:spPr>
          <a:xfrm>
            <a:off x="2432571" y="5177094"/>
            <a:ext cx="75433" cy="728776"/>
          </a:xfrm>
          <a:prstGeom prst="flowChartProcess">
            <a:avLst/>
          </a:prstGeom>
          <a:pattFill prst="openDmnd">
            <a:fgClr>
              <a:srgbClr val="FF0000"/>
            </a:fgClr>
            <a:bgClr>
              <a:schemeClr val="bg1"/>
            </a:bgClr>
          </a:patt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66" name="组合 265"/>
          <p:cNvGrpSpPr/>
          <p:nvPr/>
        </p:nvGrpSpPr>
        <p:grpSpPr>
          <a:xfrm>
            <a:off x="1984606" y="5957524"/>
            <a:ext cx="1120181" cy="416801"/>
            <a:chOff x="1984606" y="5957524"/>
            <a:chExt cx="1120181" cy="416801"/>
          </a:xfrm>
        </p:grpSpPr>
        <p:sp>
          <p:nvSpPr>
            <p:cNvPr id="239" name="左中括号 238"/>
            <p:cNvSpPr/>
            <p:nvPr/>
          </p:nvSpPr>
          <p:spPr>
            <a:xfrm rot="16200000">
              <a:off x="2461538" y="5809209"/>
              <a:ext cx="133810" cy="430439"/>
            </a:xfrm>
            <a:prstGeom prst="leftBracket">
              <a:avLst/>
            </a:prstGeom>
            <a:ln w="254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文本框 239"/>
            <p:cNvSpPr txBox="1"/>
            <p:nvPr/>
          </p:nvSpPr>
          <p:spPr>
            <a:xfrm>
              <a:off x="1984606" y="6097326"/>
              <a:ext cx="112018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有效噪声带宽</a:t>
              </a:r>
              <a:endParaRPr lang="zh-CN" altLang="en-US" sz="1200" b="1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grpSp>
        <p:nvGrpSpPr>
          <p:cNvPr id="271" name="组合 270"/>
          <p:cNvGrpSpPr/>
          <p:nvPr/>
        </p:nvGrpSpPr>
        <p:grpSpPr>
          <a:xfrm>
            <a:off x="480163" y="3269102"/>
            <a:ext cx="8205783" cy="2837528"/>
            <a:chOff x="480163" y="3269102"/>
            <a:chExt cx="8205783" cy="2837528"/>
          </a:xfrm>
        </p:grpSpPr>
        <p:grpSp>
          <p:nvGrpSpPr>
            <p:cNvPr id="270" name="组合 269"/>
            <p:cNvGrpSpPr/>
            <p:nvPr/>
          </p:nvGrpSpPr>
          <p:grpSpPr>
            <a:xfrm>
              <a:off x="6892277" y="3269102"/>
              <a:ext cx="1793669" cy="2837528"/>
              <a:chOff x="6892277" y="3269102"/>
              <a:chExt cx="1793669" cy="2837528"/>
            </a:xfrm>
          </p:grpSpPr>
          <p:cxnSp>
            <p:nvCxnSpPr>
              <p:cNvPr id="177" name="直接箭头连接符 176"/>
              <p:cNvCxnSpPr/>
              <p:nvPr/>
            </p:nvCxnSpPr>
            <p:spPr>
              <a:xfrm>
                <a:off x="7115117" y="3903885"/>
                <a:ext cx="1173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直接箭头连接符 177"/>
              <p:cNvCxnSpPr/>
              <p:nvPr/>
            </p:nvCxnSpPr>
            <p:spPr>
              <a:xfrm flipV="1">
                <a:off x="7104844" y="3482392"/>
                <a:ext cx="0" cy="4214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9" name="矩形 178"/>
              <p:cNvSpPr/>
              <p:nvPr/>
            </p:nvSpPr>
            <p:spPr>
              <a:xfrm>
                <a:off x="7278408" y="3634266"/>
                <a:ext cx="818797" cy="259391"/>
              </a:xfrm>
              <a:prstGeom prst="rect">
                <a:avLst/>
              </a:prstGeom>
              <a:solidFill>
                <a:schemeClr val="bg1">
                  <a:alpha val="28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文本框 179"/>
                  <p:cNvSpPr txBox="1"/>
                  <p:nvPr/>
                </p:nvSpPr>
                <p:spPr>
                  <a:xfrm>
                    <a:off x="6922773" y="3269102"/>
                    <a:ext cx="34817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zh-CN" altLang="en-US" sz="1400" b="1" i="1" dirty="0"/>
                  </a:p>
                </p:txBody>
              </p:sp>
            </mc:Choice>
            <mc:Fallback xmlns="">
              <p:sp>
                <p:nvSpPr>
                  <p:cNvPr id="180" name="文本框 17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2773" y="3269102"/>
                    <a:ext cx="348172" cy="307777"/>
                  </a:xfrm>
                  <a:prstGeom prst="rect">
                    <a:avLst/>
                  </a:prstGeom>
                  <a:blipFill rotWithShape="0"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1" name="流程图: 过程 180"/>
              <p:cNvSpPr/>
              <p:nvPr/>
            </p:nvSpPr>
            <p:spPr>
              <a:xfrm>
                <a:off x="7283824" y="3634266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流程图: 过程 181"/>
              <p:cNvSpPr/>
              <p:nvPr/>
            </p:nvSpPr>
            <p:spPr>
              <a:xfrm>
                <a:off x="7384272" y="3642983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流程图: 过程 182"/>
              <p:cNvSpPr/>
              <p:nvPr/>
            </p:nvSpPr>
            <p:spPr>
              <a:xfrm>
                <a:off x="7484721" y="3635195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流程图: 过程 183"/>
              <p:cNvSpPr/>
              <p:nvPr/>
            </p:nvSpPr>
            <p:spPr>
              <a:xfrm>
                <a:off x="7590366" y="3641637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流程图: 过程 184"/>
              <p:cNvSpPr/>
              <p:nvPr/>
            </p:nvSpPr>
            <p:spPr>
              <a:xfrm>
                <a:off x="7689074" y="3641637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流程图: 过程 185"/>
              <p:cNvSpPr/>
              <p:nvPr/>
            </p:nvSpPr>
            <p:spPr>
              <a:xfrm>
                <a:off x="7789524" y="3642997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流程图: 过程 186"/>
              <p:cNvSpPr/>
              <p:nvPr/>
            </p:nvSpPr>
            <p:spPr>
              <a:xfrm>
                <a:off x="7889974" y="3635211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流程图: 过程 187"/>
              <p:cNvSpPr/>
              <p:nvPr/>
            </p:nvSpPr>
            <p:spPr>
              <a:xfrm>
                <a:off x="7995617" y="3641653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9" name="文本框 188"/>
                  <p:cNvSpPr txBox="1"/>
                  <p:nvPr/>
                </p:nvSpPr>
                <p:spPr>
                  <a:xfrm>
                    <a:off x="8176586" y="3716362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189" name="文本框 18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6586" y="3716362"/>
                    <a:ext cx="367408" cy="369332"/>
                  </a:xfrm>
                  <a:prstGeom prst="rect">
                    <a:avLst/>
                  </a:prstGeom>
                  <a:blipFill rotWithShape="0">
                    <a:blip r:embed="rId7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0" name="直接箭头连接符 189"/>
              <p:cNvCxnSpPr/>
              <p:nvPr/>
            </p:nvCxnSpPr>
            <p:spPr>
              <a:xfrm>
                <a:off x="7115117" y="5025464"/>
                <a:ext cx="11736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直接箭头连接符 190"/>
              <p:cNvCxnSpPr/>
              <p:nvPr/>
            </p:nvCxnSpPr>
            <p:spPr>
              <a:xfrm flipV="1">
                <a:off x="7104844" y="4603971"/>
                <a:ext cx="0" cy="42149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2" name="矩形 191"/>
              <p:cNvSpPr/>
              <p:nvPr/>
            </p:nvSpPr>
            <p:spPr>
              <a:xfrm>
                <a:off x="7278408" y="4755845"/>
                <a:ext cx="818797" cy="259391"/>
              </a:xfrm>
              <a:prstGeom prst="rect">
                <a:avLst/>
              </a:prstGeom>
              <a:solidFill>
                <a:schemeClr val="bg1">
                  <a:alpha val="28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b="1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3" name="文本框 192"/>
                  <p:cNvSpPr txBox="1"/>
                  <p:nvPr/>
                </p:nvSpPr>
                <p:spPr>
                  <a:xfrm>
                    <a:off x="6922773" y="4390681"/>
                    <a:ext cx="348172" cy="3077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1" i="1" smtClean="0">
                              <a:latin typeface="Cambria Math" panose="02040503050406030204" pitchFamily="18" charset="0"/>
                            </a:rPr>
                            <m:t>𝑷</m:t>
                          </m:r>
                        </m:oMath>
                      </m:oMathPara>
                    </a14:m>
                    <a:endParaRPr lang="zh-CN" altLang="en-US" sz="1400" b="1" i="1" dirty="0"/>
                  </a:p>
                </p:txBody>
              </p:sp>
            </mc:Choice>
            <mc:Fallback xmlns="">
              <p:sp>
                <p:nvSpPr>
                  <p:cNvPr id="193" name="文本框 19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22773" y="4390681"/>
                    <a:ext cx="348172" cy="307777"/>
                  </a:xfrm>
                  <a:prstGeom prst="rect">
                    <a:avLst/>
                  </a:prstGeom>
                  <a:blipFill rotWithShape="0"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94" name="直接箭头连接符 193"/>
              <p:cNvCxnSpPr/>
              <p:nvPr/>
            </p:nvCxnSpPr>
            <p:spPr>
              <a:xfrm>
                <a:off x="7293552" y="5103483"/>
                <a:ext cx="846328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5" name="文本框 194"/>
                  <p:cNvSpPr txBox="1"/>
                  <p:nvPr/>
                </p:nvSpPr>
                <p:spPr>
                  <a:xfrm>
                    <a:off x="7624022" y="5069815"/>
                    <a:ext cx="222818" cy="24057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 xmlns:m="http://schemas.openxmlformats.org/officeDocument/2006/math">
                        <m:r>
                          <a:rPr lang="en-US" altLang="zh-CN" sz="1600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oMath>
                    </a14:m>
                    <a:r>
                      <a:rPr lang="en-US" altLang="zh-CN" sz="1600" b="1" baseline="-25000" dirty="0" smtClean="0"/>
                      <a:t>o</a:t>
                    </a:r>
                    <a:endParaRPr lang="zh-CN" altLang="en-US" sz="1600" b="1" baseline="-25000" dirty="0"/>
                  </a:p>
                </p:txBody>
              </p:sp>
            </mc:Choice>
            <mc:Fallback xmlns="">
              <p:sp>
                <p:nvSpPr>
                  <p:cNvPr id="195" name="文本框 19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4022" y="5069815"/>
                    <a:ext cx="222818" cy="240579"/>
                  </a:xfrm>
                  <a:prstGeom prst="rect">
                    <a:avLst/>
                  </a:prstGeom>
                  <a:blipFill rotWithShape="0">
                    <a:blip r:embed="rId74"/>
                    <a:stretch>
                      <a:fillRect l="-33333" r="-36111" b="-4871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96" name="流程图: 过程 195"/>
              <p:cNvSpPr/>
              <p:nvPr/>
            </p:nvSpPr>
            <p:spPr>
              <a:xfrm>
                <a:off x="7283824" y="4755845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7" name="流程图: 过程 196"/>
              <p:cNvSpPr/>
              <p:nvPr/>
            </p:nvSpPr>
            <p:spPr>
              <a:xfrm>
                <a:off x="7384272" y="4764562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8" name="流程图: 过程 197"/>
              <p:cNvSpPr/>
              <p:nvPr/>
            </p:nvSpPr>
            <p:spPr>
              <a:xfrm>
                <a:off x="7484721" y="4756774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流程图: 过程 198"/>
              <p:cNvSpPr/>
              <p:nvPr/>
            </p:nvSpPr>
            <p:spPr>
              <a:xfrm>
                <a:off x="7590366" y="4763216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流程图: 过程 199"/>
              <p:cNvSpPr/>
              <p:nvPr/>
            </p:nvSpPr>
            <p:spPr>
              <a:xfrm>
                <a:off x="7689074" y="4763216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流程图: 过程 200"/>
              <p:cNvSpPr/>
              <p:nvPr/>
            </p:nvSpPr>
            <p:spPr>
              <a:xfrm>
                <a:off x="7789524" y="4764576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流程图: 过程 201"/>
              <p:cNvSpPr/>
              <p:nvPr/>
            </p:nvSpPr>
            <p:spPr>
              <a:xfrm>
                <a:off x="7889974" y="4756790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流程图: 过程 202"/>
              <p:cNvSpPr/>
              <p:nvPr/>
            </p:nvSpPr>
            <p:spPr>
              <a:xfrm>
                <a:off x="7995617" y="4763232"/>
                <a:ext cx="101588" cy="259391"/>
              </a:xfrm>
              <a:prstGeom prst="flowChartProcess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4" name="文本框 203"/>
                  <p:cNvSpPr txBox="1"/>
                  <p:nvPr/>
                </p:nvSpPr>
                <p:spPr>
                  <a:xfrm>
                    <a:off x="8176586" y="4837941"/>
                    <a:ext cx="36740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zh-CN" altLang="en-US" b="1" i="1" smtClean="0">
                              <a:latin typeface="Cambria Math" panose="02040503050406030204" pitchFamily="18" charset="0"/>
                            </a:rPr>
                            <m:t>𝝀</m:t>
                          </m:r>
                        </m:oMath>
                      </m:oMathPara>
                    </a14:m>
                    <a:endParaRPr lang="zh-CN" altLang="en-US" b="1" dirty="0"/>
                  </a:p>
                </p:txBody>
              </p:sp>
            </mc:Choice>
            <mc:Fallback xmlns="">
              <p:sp>
                <p:nvSpPr>
                  <p:cNvPr id="204" name="文本框 20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76586" y="4837941"/>
                    <a:ext cx="367408" cy="369332"/>
                  </a:xfrm>
                  <a:prstGeom prst="rect">
                    <a:avLst/>
                  </a:prstGeom>
                  <a:blipFill rotWithShape="0">
                    <a:blip r:embed="rId7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5" name="左中括号 204"/>
              <p:cNvSpPr/>
              <p:nvPr/>
            </p:nvSpPr>
            <p:spPr>
              <a:xfrm>
                <a:off x="6922773" y="4390681"/>
                <a:ext cx="182071" cy="816592"/>
              </a:xfrm>
              <a:prstGeom prst="lef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右中括号 205"/>
              <p:cNvSpPr/>
              <p:nvPr/>
            </p:nvSpPr>
            <p:spPr>
              <a:xfrm>
                <a:off x="8313160" y="4400550"/>
                <a:ext cx="122362" cy="817200"/>
              </a:xfrm>
              <a:prstGeom prst="rightBracket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7" name="文本框 206"/>
                  <p:cNvSpPr txBox="1"/>
                  <p:nvPr/>
                </p:nvSpPr>
                <p:spPr>
                  <a:xfrm>
                    <a:off x="6892277" y="3902347"/>
                    <a:ext cx="386323" cy="49244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3200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</m:oMath>
                      </m:oMathPara>
                    </a14:m>
                    <a:endParaRPr lang="zh-CN" altLang="en-US" sz="32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mc:Choice>
            <mc:Fallback xmlns="">
              <p:sp>
                <p:nvSpPr>
                  <p:cNvPr id="207" name="文本框 20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92277" y="3902347"/>
                    <a:ext cx="386323" cy="492443"/>
                  </a:xfrm>
                  <a:prstGeom prst="rect">
                    <a:avLst/>
                  </a:prstGeom>
                  <a:blipFill rotWithShape="0">
                    <a:blip r:embed="rId7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08" name="直接箭头连接符 207"/>
              <p:cNvCxnSpPr>
                <a:endCxn id="196" idx="0"/>
              </p:cNvCxnSpPr>
              <p:nvPr/>
            </p:nvCxnSpPr>
            <p:spPr>
              <a:xfrm flipH="1">
                <a:off x="7334618" y="3932001"/>
                <a:ext cx="93078" cy="823844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文本框 210"/>
                  <p:cNvSpPr txBox="1"/>
                  <p:nvPr/>
                </p:nvSpPr>
                <p:spPr>
                  <a:xfrm>
                    <a:off x="7140424" y="5275633"/>
                    <a:ext cx="1295098" cy="8309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𝑚</m:t>
                          </m:r>
                          <m:r>
                            <a:rPr lang="en-US" altLang="zh-CN" sz="16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𝑛</m:t>
                          </m:r>
                        </m:oMath>
                      </m:oMathPara>
                    </a14:m>
                    <a:endParaRPr lang="en-US" altLang="zh-CN" sz="1600" b="0" dirty="0" smtClean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  <a:p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zh-CN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 dirty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6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r>
                      <a:rPr lang="en-US" altLang="zh-CN" sz="1600" b="0" dirty="0" smtClean="0">
                        <a:latin typeface="仿宋" panose="02010609060101010101" pitchFamily="49" charset="-122"/>
                        <a:ea typeface="仿宋" panose="02010609060101010101" pitchFamily="49" charset="-122"/>
                      </a:rPr>
                      <a:t>=</a:t>
                    </a:r>
                    <a:r>
                      <a:rPr lang="en-US" altLang="zh-CN" sz="1600" b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∆</a:t>
                    </a:r>
                    <a:r>
                      <a:rPr lang="el-GR" altLang="zh-CN" sz="1600" b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a:t>ν</a:t>
                    </a:r>
                    <a:endParaRPr lang="en-US" altLang="zh-CN" sz="1600" b="0" dirty="0" smtClean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  <a:p>
                    <a:endPara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11" name="文本框 21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40424" y="5275633"/>
                    <a:ext cx="1295098" cy="830997"/>
                  </a:xfrm>
                  <a:prstGeom prst="rect">
                    <a:avLst/>
                  </a:prstGeom>
                  <a:blipFill rotWithShape="0">
                    <a:blip r:embed="rId77"/>
                    <a:stretch>
                      <a:fillRect r="-18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2" name="文本框 211"/>
              <p:cNvSpPr txBox="1"/>
              <p:nvPr/>
            </p:nvSpPr>
            <p:spPr>
              <a:xfrm>
                <a:off x="8142207" y="4148568"/>
                <a:ext cx="54373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共轭</a:t>
                </a:r>
              </a:p>
            </p:txBody>
          </p:sp>
          <p:cxnSp>
            <p:nvCxnSpPr>
              <p:cNvPr id="216" name="直接箭头连接符 215"/>
              <p:cNvCxnSpPr/>
              <p:nvPr/>
            </p:nvCxnSpPr>
            <p:spPr>
              <a:xfrm flipH="1">
                <a:off x="7448918" y="3932001"/>
                <a:ext cx="93078" cy="823844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" name="直接箭头连接符 217"/>
              <p:cNvCxnSpPr/>
              <p:nvPr/>
            </p:nvCxnSpPr>
            <p:spPr>
              <a:xfrm flipH="1">
                <a:off x="7553720" y="3931887"/>
                <a:ext cx="93078" cy="823844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" name="直接箭头连接符 218"/>
              <p:cNvCxnSpPr/>
              <p:nvPr/>
            </p:nvCxnSpPr>
            <p:spPr>
              <a:xfrm flipH="1">
                <a:off x="7666271" y="3922538"/>
                <a:ext cx="93078" cy="823844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0" name="直接箭头连接符 219"/>
              <p:cNvCxnSpPr/>
              <p:nvPr/>
            </p:nvCxnSpPr>
            <p:spPr>
              <a:xfrm flipH="1">
                <a:off x="7760919" y="3912959"/>
                <a:ext cx="93078" cy="823844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直接箭头连接符 220"/>
              <p:cNvCxnSpPr/>
              <p:nvPr/>
            </p:nvCxnSpPr>
            <p:spPr>
              <a:xfrm flipH="1">
                <a:off x="7856169" y="3922484"/>
                <a:ext cx="93078" cy="823844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直接箭头连接符 221"/>
              <p:cNvCxnSpPr/>
              <p:nvPr/>
            </p:nvCxnSpPr>
            <p:spPr>
              <a:xfrm flipH="1">
                <a:off x="7960944" y="3912959"/>
                <a:ext cx="93078" cy="823844"/>
              </a:xfrm>
              <a:prstGeom prst="straightConnector1">
                <a:avLst/>
              </a:prstGeom>
              <a:ln>
                <a:prstDash val="dash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2" name="矩形 241"/>
                <p:cNvSpPr/>
                <p:nvPr/>
              </p:nvSpPr>
              <p:spPr>
                <a:xfrm>
                  <a:off x="480163" y="4589595"/>
                  <a:ext cx="93641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𝑚</m:t>
                        </m:r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oMath>
                    </m:oMathPara>
                  </a14:m>
                  <a:endParaRPr lang="en-US" altLang="zh-CN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42" name="矩形 2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163" y="4589595"/>
                  <a:ext cx="936410" cy="369332"/>
                </a:xfrm>
                <a:prstGeom prst="rect">
                  <a:avLst/>
                </a:prstGeom>
                <a:blipFill rotWithShape="0">
                  <a:blip r:embed="rId8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3" name="组合 262"/>
          <p:cNvGrpSpPr/>
          <p:nvPr/>
        </p:nvGrpSpPr>
        <p:grpSpPr>
          <a:xfrm>
            <a:off x="2035717" y="5333214"/>
            <a:ext cx="956943" cy="579301"/>
            <a:chOff x="2035717" y="5333214"/>
            <a:chExt cx="956943" cy="579301"/>
          </a:xfrm>
        </p:grpSpPr>
        <p:sp>
          <p:nvSpPr>
            <p:cNvPr id="228" name="流程图: 过程 227"/>
            <p:cNvSpPr/>
            <p:nvPr/>
          </p:nvSpPr>
          <p:spPr>
            <a:xfrm>
              <a:off x="2132778" y="5635012"/>
              <a:ext cx="72162" cy="266163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流程图: 过程 228"/>
            <p:cNvSpPr/>
            <p:nvPr/>
          </p:nvSpPr>
          <p:spPr>
            <a:xfrm>
              <a:off x="2226098" y="5499915"/>
              <a:ext cx="79290" cy="396000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流程图: 过程 229"/>
            <p:cNvSpPr/>
            <p:nvPr/>
          </p:nvSpPr>
          <p:spPr>
            <a:xfrm>
              <a:off x="2326547" y="5333214"/>
              <a:ext cx="79290" cy="576000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流程图: 过程 232"/>
            <p:cNvSpPr/>
            <p:nvPr/>
          </p:nvSpPr>
          <p:spPr>
            <a:xfrm>
              <a:off x="2627873" y="5336515"/>
              <a:ext cx="79290" cy="576000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流程图: 过程 233"/>
            <p:cNvSpPr/>
            <p:nvPr/>
          </p:nvSpPr>
          <p:spPr>
            <a:xfrm>
              <a:off x="2728657" y="5502886"/>
              <a:ext cx="79290" cy="396000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流程图: 过程 245"/>
            <p:cNvSpPr/>
            <p:nvPr/>
          </p:nvSpPr>
          <p:spPr>
            <a:xfrm>
              <a:off x="2830480" y="5636406"/>
              <a:ext cx="72162" cy="266163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流程图: 过程 246"/>
            <p:cNvSpPr/>
            <p:nvPr/>
          </p:nvSpPr>
          <p:spPr>
            <a:xfrm>
              <a:off x="2035717" y="5768093"/>
              <a:ext cx="66385" cy="132581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流程图: 过程 247"/>
            <p:cNvSpPr/>
            <p:nvPr/>
          </p:nvSpPr>
          <p:spPr>
            <a:xfrm>
              <a:off x="2926275" y="5764464"/>
              <a:ext cx="66385" cy="132581"/>
            </a:xfrm>
            <a:prstGeom prst="flowChartProcess">
              <a:avLst/>
            </a:prstGeom>
            <a:pattFill prst="openDmnd">
              <a:fgClr>
                <a:srgbClr val="FF0000"/>
              </a:fgClr>
              <a:bgClr>
                <a:schemeClr val="bg1"/>
              </a:bgClr>
            </a:patt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4" name="组合 263"/>
          <p:cNvGrpSpPr/>
          <p:nvPr/>
        </p:nvGrpSpPr>
        <p:grpSpPr>
          <a:xfrm>
            <a:off x="1617525" y="5537242"/>
            <a:ext cx="1983009" cy="307777"/>
            <a:chOff x="1617525" y="5537242"/>
            <a:chExt cx="1983009" cy="30777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矩形 236"/>
                <p:cNvSpPr/>
                <p:nvPr/>
              </p:nvSpPr>
              <p:spPr>
                <a:xfrm>
                  <a:off x="2871955" y="5537242"/>
                  <a:ext cx="728579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sz="1400" b="1" i="1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37" name="矩形 2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1955" y="5537242"/>
                  <a:ext cx="728579" cy="307777"/>
                </a:xfrm>
                <a:prstGeom prst="rect">
                  <a:avLst/>
                </a:prstGeom>
                <a:blipFill rotWithShape="0">
                  <a:blip r:embed="rId8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1" name="直接箭头连接符 250"/>
            <p:cNvCxnSpPr/>
            <p:nvPr/>
          </p:nvCxnSpPr>
          <p:spPr>
            <a:xfrm flipH="1">
              <a:off x="2996250" y="5796671"/>
              <a:ext cx="383452" cy="1043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直接箭头连接符 254"/>
            <p:cNvCxnSpPr/>
            <p:nvPr/>
          </p:nvCxnSpPr>
          <p:spPr>
            <a:xfrm>
              <a:off x="1617525" y="5807936"/>
              <a:ext cx="418192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5" name="组合 264"/>
          <p:cNvGrpSpPr/>
          <p:nvPr/>
        </p:nvGrpSpPr>
        <p:grpSpPr>
          <a:xfrm>
            <a:off x="1628843" y="4647584"/>
            <a:ext cx="2136701" cy="1498748"/>
            <a:chOff x="1628843" y="4647584"/>
            <a:chExt cx="2136701" cy="1498748"/>
          </a:xfrm>
        </p:grpSpPr>
        <p:cxnSp>
          <p:nvCxnSpPr>
            <p:cNvPr id="223" name="直接箭头连接符 222"/>
            <p:cNvCxnSpPr/>
            <p:nvPr/>
          </p:nvCxnSpPr>
          <p:spPr>
            <a:xfrm>
              <a:off x="1639116" y="5908869"/>
              <a:ext cx="188288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直接箭头连接符 223"/>
            <p:cNvCxnSpPr/>
            <p:nvPr/>
          </p:nvCxnSpPr>
          <p:spPr>
            <a:xfrm flipV="1">
              <a:off x="1628843" y="4851622"/>
              <a:ext cx="0" cy="105724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本框 235"/>
                <p:cNvSpPr txBox="1"/>
                <p:nvPr/>
              </p:nvSpPr>
              <p:spPr>
                <a:xfrm>
                  <a:off x="3398136" y="5711249"/>
                  <a:ext cx="3674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236" name="文本框 2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98136" y="5711249"/>
                  <a:ext cx="367408" cy="369332"/>
                </a:xfrm>
                <a:prstGeom prst="rect">
                  <a:avLst/>
                </a:prstGeom>
                <a:blipFill rotWithShape="0">
                  <a:blip r:embed="rId81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8" name="文本框 237"/>
            <p:cNvSpPr txBox="1"/>
            <p:nvPr/>
          </p:nvSpPr>
          <p:spPr>
            <a:xfrm>
              <a:off x="2391480" y="583855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dirty="0" smtClean="0"/>
                <a:t>0</a:t>
              </a:r>
              <a:endParaRPr lang="zh-CN" altLang="en-US" sz="1400" dirty="0"/>
            </a:p>
          </p:txBody>
        </p:sp>
        <p:grpSp>
          <p:nvGrpSpPr>
            <p:cNvPr id="262" name="组合 261"/>
            <p:cNvGrpSpPr/>
            <p:nvPr/>
          </p:nvGrpSpPr>
          <p:grpSpPr>
            <a:xfrm>
              <a:off x="2295108" y="4647584"/>
              <a:ext cx="499175" cy="1258286"/>
              <a:chOff x="2295108" y="4647584"/>
              <a:chExt cx="499175" cy="1258286"/>
            </a:xfrm>
          </p:grpSpPr>
          <p:sp>
            <p:nvSpPr>
              <p:cNvPr id="232" name="流程图: 过程 231"/>
              <p:cNvSpPr/>
              <p:nvPr/>
            </p:nvSpPr>
            <p:spPr>
              <a:xfrm>
                <a:off x="2527424" y="5177094"/>
                <a:ext cx="80309" cy="728776"/>
              </a:xfrm>
              <a:prstGeom prst="flowChartProcess">
                <a:avLst/>
              </a:prstGeom>
              <a:pattFill prst="openDmnd">
                <a:fgClr>
                  <a:srgbClr val="FF0000"/>
                </a:fgClr>
                <a:bgClr>
                  <a:schemeClr val="bg1"/>
                </a:bgClr>
              </a:patt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7" name="直接箭头连接符 256"/>
              <p:cNvCxnSpPr/>
              <p:nvPr/>
            </p:nvCxnSpPr>
            <p:spPr>
              <a:xfrm>
                <a:off x="2563340" y="4900957"/>
                <a:ext cx="0" cy="258979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8" name="矩形 257"/>
                  <p:cNvSpPr/>
                  <p:nvPr/>
                </p:nvSpPr>
                <p:spPr>
                  <a:xfrm>
                    <a:off x="2295108" y="4647584"/>
                    <a:ext cx="49917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l-GR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zh-CN" alt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𝜈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58" name="矩形 2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95108" y="4647584"/>
                    <a:ext cx="499175" cy="369332"/>
                  </a:xfrm>
                  <a:prstGeom prst="rect">
                    <a:avLst/>
                  </a:prstGeom>
                  <a:blipFill rotWithShape="0">
                    <a:blip r:embed="rId8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67" name="组合 266"/>
          <p:cNvGrpSpPr/>
          <p:nvPr/>
        </p:nvGrpSpPr>
        <p:grpSpPr>
          <a:xfrm>
            <a:off x="1570401" y="5006565"/>
            <a:ext cx="1827735" cy="215444"/>
            <a:chOff x="1570401" y="5006565"/>
            <a:chExt cx="1827735" cy="215444"/>
          </a:xfrm>
        </p:grpSpPr>
        <p:cxnSp>
          <p:nvCxnSpPr>
            <p:cNvPr id="260" name="直接连接符 259"/>
            <p:cNvCxnSpPr/>
            <p:nvPr/>
          </p:nvCxnSpPr>
          <p:spPr>
            <a:xfrm>
              <a:off x="1628843" y="5173844"/>
              <a:ext cx="1769293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矩形 260"/>
                <p:cNvSpPr/>
                <p:nvPr/>
              </p:nvSpPr>
              <p:spPr>
                <a:xfrm>
                  <a:off x="1570401" y="5006565"/>
                  <a:ext cx="474874" cy="21544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altLang="zh-CN" sz="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800" dirty="0"/>
                </a:p>
              </p:txBody>
            </p:sp>
          </mc:Choice>
          <mc:Fallback xmlns="">
            <p:sp>
              <p:nvSpPr>
                <p:cNvPr id="261" name="矩形 2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0401" y="5006565"/>
                  <a:ext cx="474874" cy="215444"/>
                </a:xfrm>
                <a:prstGeom prst="rect">
                  <a:avLst/>
                </a:prstGeom>
                <a:blipFill rotWithShape="0">
                  <a:blip r:embed="rId8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2" name="文本框 271"/>
              <p:cNvSpPr txBox="1"/>
              <p:nvPr/>
            </p:nvSpPr>
            <p:spPr>
              <a:xfrm>
                <a:off x="4542663" y="6043550"/>
                <a:ext cx="4079386" cy="241926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CN" altLang="en-US" sz="1400" dirty="0"/>
                  <a:t>公式</a:t>
                </a:r>
                <a:r>
                  <a:rPr lang="zh-CN" altLang="en-US" sz="1400" dirty="0" smtClean="0"/>
                  <a:t>证明：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zh-CN" altLang="en-US" sz="140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𝑠𝑝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𝑠𝑝</m:t>
                        </m:r>
                      </m:sub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𝑚</m:t>
                        </m:r>
                        <m: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lang="en-US" altLang="zh-CN" sz="14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𝑛</m:t>
                        </m:r>
                      </m:e>
                    </m:d>
                    <m:r>
                      <a:rPr lang="en-US" altLang="zh-CN" sz="14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4</m:t>
                    </m:r>
                    <m:sSubSup>
                      <m:sSubSup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sSubSup>
                      <m:sSubSup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𝐴𝑆𝐸</m:t>
                        </m:r>
                      </m:sub>
                      <m:sup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lin"/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272" name="文本框 2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2663" y="6043550"/>
                <a:ext cx="4079386" cy="241926"/>
              </a:xfrm>
              <a:prstGeom prst="rect">
                <a:avLst/>
              </a:prstGeom>
              <a:blipFill rotWithShape="0">
                <a:blip r:embed="rId87"/>
                <a:stretch>
                  <a:fillRect l="-2691" t="-130000" r="-8221" b="-2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207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" grpId="0" animBg="1"/>
      <p:bldP spid="27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流程图: 过程 53"/>
          <p:cNvSpPr/>
          <p:nvPr/>
        </p:nvSpPr>
        <p:spPr>
          <a:xfrm>
            <a:off x="5017428" y="3442857"/>
            <a:ext cx="4095042" cy="1280972"/>
          </a:xfrm>
          <a:prstGeom prst="flowChartProcess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流程图: 过程 39"/>
          <p:cNvSpPr/>
          <p:nvPr/>
        </p:nvSpPr>
        <p:spPr>
          <a:xfrm>
            <a:off x="472658" y="3481568"/>
            <a:ext cx="3353109" cy="1059503"/>
          </a:xfrm>
          <a:prstGeom prst="flowChartProcess">
            <a:avLst/>
          </a:prstGeom>
          <a:solidFill>
            <a:srgbClr val="126084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07950" y="44450"/>
            <a:ext cx="4240185" cy="884238"/>
            <a:chOff x="0" y="0"/>
            <a:chExt cx="6678" cy="1392"/>
          </a:xfrm>
        </p:grpSpPr>
        <p:sp>
          <p:nvSpPr>
            <p:cNvPr id="5" name="文本框 6"/>
            <p:cNvSpPr txBox="1">
              <a:spLocks noChangeArrowheads="1"/>
            </p:cNvSpPr>
            <p:nvPr/>
          </p:nvSpPr>
          <p:spPr bwMode="auto">
            <a:xfrm>
              <a:off x="0" y="0"/>
              <a:ext cx="2041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5200" b="1" dirty="0" smtClean="0">
                  <a:solidFill>
                    <a:srgbClr val="136489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5200" b="1" dirty="0">
                <a:solidFill>
                  <a:srgbClr val="136489"/>
                </a:solidFill>
                <a:latin typeface="Arial Black" panose="020B0A040201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8"/>
            <p:cNvSpPr txBox="1">
              <a:spLocks noChangeArrowheads="1"/>
            </p:cNvSpPr>
            <p:nvPr/>
          </p:nvSpPr>
          <p:spPr bwMode="auto">
            <a:xfrm>
              <a:off x="1678" y="226"/>
              <a:ext cx="5000" cy="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300" b="1" dirty="0" smtClean="0">
                  <a:solidFill>
                    <a:srgbClr val="1364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光接收机灵敏度</a:t>
              </a:r>
              <a:endParaRPr lang="zh-CN" altLang="en-US" sz="2300" b="1" dirty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5580994" y="920311"/>
            <a:ext cx="3400323" cy="1806036"/>
            <a:chOff x="5633546" y="237142"/>
            <a:chExt cx="3400323" cy="1806036"/>
          </a:xfrm>
        </p:grpSpPr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3546" y="237142"/>
              <a:ext cx="3247696" cy="180603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/>
                <p:cNvSpPr txBox="1"/>
                <p:nvPr/>
              </p:nvSpPr>
              <p:spPr>
                <a:xfrm>
                  <a:off x="8766467" y="651689"/>
                  <a:ext cx="22955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" name="文本框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7" y="651689"/>
                  <a:ext cx="229550" cy="276999"/>
                </a:xfrm>
                <a:prstGeom prst="rect">
                  <a:avLst/>
                </a:prstGeom>
                <a:blipFill rotWithShape="0">
                  <a:blip r:embed="rId25"/>
                  <a:stretch>
                    <a:fillRect l="-23684" r="-7895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/>
                <p:cNvSpPr txBox="1"/>
                <p:nvPr/>
              </p:nvSpPr>
              <p:spPr>
                <a:xfrm>
                  <a:off x="8766467" y="1244317"/>
                  <a:ext cx="23487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3" name="文本框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66467" y="1244317"/>
                  <a:ext cx="234871" cy="276999"/>
                </a:xfrm>
                <a:prstGeom prst="rect">
                  <a:avLst/>
                </a:prstGeom>
                <a:blipFill rotWithShape="0">
                  <a:blip r:embed="rId26"/>
                  <a:stretch>
                    <a:fillRect l="-23077" r="-7692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矩形 13"/>
            <p:cNvSpPr/>
            <p:nvPr/>
          </p:nvSpPr>
          <p:spPr>
            <a:xfrm>
              <a:off x="8331582" y="581210"/>
              <a:ext cx="182840" cy="1755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8597982" y="1246181"/>
              <a:ext cx="126124" cy="14714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5633546" y="1213730"/>
              <a:ext cx="3247696" cy="0"/>
            </a:xfrm>
            <a:prstGeom prst="line">
              <a:avLst/>
            </a:prstGeom>
            <a:ln w="38100">
              <a:solidFill>
                <a:schemeClr val="accent1">
                  <a:alpha val="98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8714551" y="959274"/>
                  <a:ext cx="3193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𝑡h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14551" y="959274"/>
                  <a:ext cx="319318" cy="276999"/>
                </a:xfrm>
                <a:prstGeom prst="rect">
                  <a:avLst/>
                </a:prstGeom>
                <a:blipFill rotWithShape="0">
                  <a:blip r:embed="rId27"/>
                  <a:stretch>
                    <a:fillRect l="-17308" r="-7692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7952416" y="380601"/>
                  <a:ext cx="27379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52416" y="380601"/>
                  <a:ext cx="273793" cy="276999"/>
                </a:xfrm>
                <a:prstGeom prst="rect">
                  <a:avLst/>
                </a:prstGeom>
                <a:blipFill rotWithShape="0">
                  <a:blip r:embed="rId28"/>
                  <a:stretch>
                    <a:fillRect l="-13333" r="-4444" b="-1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8089312" y="1532215"/>
                  <a:ext cx="27911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9312" y="1532215"/>
                  <a:ext cx="279115" cy="276999"/>
                </a:xfrm>
                <a:prstGeom prst="rect">
                  <a:avLst/>
                </a:prstGeom>
                <a:blipFill rotWithShape="0">
                  <a:blip r:embed="rId29"/>
                  <a:stretch>
                    <a:fillRect l="-13043" r="-6522" b="-1521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" name="直接连接符 22"/>
            <p:cNvCxnSpPr/>
            <p:nvPr/>
          </p:nvCxnSpPr>
          <p:spPr>
            <a:xfrm flipV="1">
              <a:off x="6211614" y="581210"/>
              <a:ext cx="0" cy="1089504"/>
            </a:xfrm>
            <a:prstGeom prst="line">
              <a:avLst/>
            </a:prstGeom>
            <a:ln w="15875" cmpd="sng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文本框 23"/>
            <p:cNvSpPr txBox="1"/>
            <p:nvPr/>
          </p:nvSpPr>
          <p:spPr>
            <a:xfrm>
              <a:off x="5752822" y="313540"/>
              <a:ext cx="100540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仿宋" panose="02010609060101010101" pitchFamily="49" charset="-122"/>
                  <a:ea typeface="仿宋" panose="02010609060101010101" pitchFamily="49" charset="-122"/>
                </a:rPr>
                <a:t>采样位置</a:t>
              </a:r>
              <a:endPara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cxnSp>
          <p:nvCxnSpPr>
            <p:cNvPr id="26" name="直接箭头连接符 25"/>
            <p:cNvCxnSpPr/>
            <p:nvPr/>
          </p:nvCxnSpPr>
          <p:spPr>
            <a:xfrm>
              <a:off x="7546428" y="313540"/>
              <a:ext cx="122003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/>
            <p:cNvSpPr txBox="1"/>
            <p:nvPr/>
          </p:nvSpPr>
          <p:spPr>
            <a:xfrm>
              <a:off x="8338893" y="273053"/>
              <a:ext cx="59503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dirty="0" smtClean="0">
                  <a:latin typeface="仿宋" panose="02010609060101010101" pitchFamily="49" charset="-122"/>
                  <a:ea typeface="仿宋" panose="02010609060101010101" pitchFamily="49" charset="-122"/>
                </a:rPr>
                <a:t>概率</a:t>
              </a:r>
              <a:endPara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5633546" y="1670714"/>
              <a:ext cx="1355833" cy="22114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1" name="矩形 30"/>
          <p:cNvSpPr/>
          <p:nvPr/>
        </p:nvSpPr>
        <p:spPr>
          <a:xfrm>
            <a:off x="460375" y="960797"/>
            <a:ext cx="5067933" cy="17508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/>
            </p:nvSpPr>
            <p:spPr>
              <a:xfrm>
                <a:off x="577642" y="1848987"/>
                <a:ext cx="8085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𝑄</m:t>
                    </m:r>
                  </m:oMath>
                </a14:m>
                <a:r>
                  <a:rPr lang="zh-CN" altLang="en-US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因子</a:t>
                </a:r>
                <a:endParaRPr lang="zh-CN" altLang="en-US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42" y="1848987"/>
                <a:ext cx="808555" cy="369332"/>
              </a:xfrm>
              <a:prstGeom prst="rect">
                <a:avLst/>
              </a:prstGeom>
              <a:blipFill rotWithShape="0">
                <a:blip r:embed="rId30"/>
                <a:stretch>
                  <a:fillRect l="-1515" t="-11475" r="-5303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1246807" y="1747854"/>
                <a:ext cx="1239314" cy="565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807" y="1747854"/>
                <a:ext cx="1239314" cy="565604"/>
              </a:xfrm>
              <a:prstGeom prst="rect">
                <a:avLst/>
              </a:prstGeom>
              <a:blipFill rotWithShape="0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右箭头 33"/>
          <p:cNvSpPr/>
          <p:nvPr/>
        </p:nvSpPr>
        <p:spPr>
          <a:xfrm>
            <a:off x="2538807" y="2000738"/>
            <a:ext cx="616479" cy="6817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/>
              <p:cNvSpPr txBox="1"/>
              <p:nvPr/>
            </p:nvSpPr>
            <p:spPr>
              <a:xfrm>
                <a:off x="431663" y="1030725"/>
                <a:ext cx="4842992" cy="66659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6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OOK</a:t>
                </a:r>
                <a:r>
                  <a:rPr lang="zh-CN" altLang="en-US" sz="16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误码率：假设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1</a:t>
                </a:r>
                <a:r>
                  <a:rPr lang="zh-CN" altLang="en-US" sz="16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码和</a:t>
                </a:r>
                <a:r>
                  <a:rPr lang="en-US" altLang="zh-CN" sz="16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0</a:t>
                </a:r>
                <a:r>
                  <a:rPr lang="zh-CN" altLang="en-US" sz="1600" b="1" dirty="0" smtClean="0">
                    <a:solidFill>
                      <a:srgbClr val="FF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码采样电平符合高斯分布</a:t>
                </a:r>
                <a:endParaRPr lang="en-US" altLang="zh-CN" sz="1600" b="1" dirty="0" smtClean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sz="16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16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码和</a:t>
                </a:r>
                <a:r>
                  <a:rPr lang="en-US" altLang="zh-CN" sz="16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0</a:t>
                </a:r>
                <a:r>
                  <a:rPr lang="zh-CN" altLang="en-US" sz="16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码的均值：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CN" altLang="en-US" sz="1600" i="1" smtClean="0"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16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；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1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码和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0</a:t>
                </a:r>
                <a:r>
                  <a:rPr lang="zh-CN" altLang="en-US" sz="16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码方差：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SupPr>
                      <m:e>
                        <m:r>
                          <a:rPr lang="zh-CN" altLang="en-US" sz="16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1</m:t>
                        </m:r>
                      </m:sub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p>
                    </m:sSubSup>
                    <m:r>
                      <a:rPr lang="zh-CN" altLang="en-US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，</m:t>
                    </m:r>
                    <m:sSubSup>
                      <m:sSubSupPr>
                        <m:ctrlPr>
                          <a:rPr lang="en-US" altLang="zh-CN" sz="160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SupPr>
                      <m:e>
                        <m:r>
                          <a:rPr lang="zh-CN" altLang="en-US" sz="160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𝜎</m:t>
                        </m:r>
                      </m:e>
                      <m:sub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sup>
                    </m:sSubSup>
                  </m:oMath>
                </a14:m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663" y="1030725"/>
                <a:ext cx="4842992" cy="666593"/>
              </a:xfrm>
              <a:prstGeom prst="rect">
                <a:avLst/>
              </a:prstGeom>
              <a:blipFill rotWithShape="0">
                <a:blip r:embed="rId32"/>
                <a:stretch>
                  <a:fillRect l="-756" t="-2752" b="-100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本框 35"/>
              <p:cNvSpPr txBox="1"/>
              <p:nvPr/>
            </p:nvSpPr>
            <p:spPr>
              <a:xfrm>
                <a:off x="3355437" y="1740023"/>
                <a:ext cx="1900777" cy="6223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i="1" smtClean="0">
                          <a:latin typeface="Cambria Math" panose="02040503050406030204" pitchFamily="18" charset="0"/>
                        </a:rPr>
                        <m:t>BER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erfc</m:t>
                      </m:r>
                      <m:d>
                        <m:d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6" name="文本框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5437" y="1740023"/>
                <a:ext cx="1900777" cy="622350"/>
              </a:xfrm>
              <a:prstGeom prst="rect">
                <a:avLst/>
              </a:prstGeom>
              <a:blipFill rotWithShape="0"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/>
              <p:cNvSpPr/>
              <p:nvPr/>
            </p:nvSpPr>
            <p:spPr>
              <a:xfrm>
                <a:off x="2087408" y="2394465"/>
                <a:ext cx="34606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𝑄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sz="16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=6,BER&lt;1e-9;</a:t>
                </a:r>
                <a:r>
                  <a:rPr lang="en-US" altLang="zh-CN" sz="1600" dirty="0">
                    <a:ea typeface="仿宋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𝑄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 </m:t>
                    </m:r>
                  </m:oMath>
                </a14:m>
                <a:r>
                  <a:rPr lang="en-US" altLang="zh-CN" sz="16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=7,BER&lt;1e-12</a:t>
                </a:r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7" name="矩形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7408" y="2394465"/>
                <a:ext cx="3460606" cy="338554"/>
              </a:xfrm>
              <a:prstGeom prst="rect">
                <a:avLst/>
              </a:prstGeom>
              <a:blipFill rotWithShape="0">
                <a:blip r:embed="rId45"/>
                <a:stretch>
                  <a:fillRect t="-9091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/>
              <p:cNvSpPr txBox="1"/>
              <p:nvPr/>
            </p:nvSpPr>
            <p:spPr>
              <a:xfrm>
                <a:off x="428845" y="4037888"/>
                <a:ext cx="3317127" cy="3111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𝐴𝑆𝐸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type m:val="lin"/>
                              <m:ctrlP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1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8" name="文本框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845" y="4037888"/>
                <a:ext cx="3317127" cy="311175"/>
              </a:xfrm>
              <a:prstGeom prst="rect">
                <a:avLst/>
              </a:prstGeom>
              <a:blipFill rotWithShape="0">
                <a:blip r:embed="rId46"/>
                <a:stretch>
                  <a:fillRect l="-551" t="-147059" r="-14154" b="-2215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/>
              <p:cNvSpPr txBox="1"/>
              <p:nvPr/>
            </p:nvSpPr>
            <p:spPr>
              <a:xfrm>
                <a:off x="471616" y="3526243"/>
                <a:ext cx="2491195" cy="3235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𝑠𝑖𝑔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𝐴𝑆𝐸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zh-CN" alt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9" name="文本框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16" y="3526243"/>
                <a:ext cx="2491195" cy="323550"/>
              </a:xfrm>
              <a:prstGeom prst="rect">
                <a:avLst/>
              </a:prstGeom>
              <a:blipFill rotWithShape="0">
                <a:blip r:embed="rId47"/>
                <a:stretch>
                  <a:fillRect l="-978" r="-2689" b="-259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右箭头 40"/>
          <p:cNvSpPr/>
          <p:nvPr/>
        </p:nvSpPr>
        <p:spPr>
          <a:xfrm>
            <a:off x="3869580" y="4111793"/>
            <a:ext cx="1120105" cy="123870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3870895" y="3431470"/>
            <a:ext cx="1234911" cy="688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理想消光比</a:t>
            </a:r>
            <a:endParaRPr lang="en-US" altLang="zh-CN" sz="1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140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码功率为零</a:t>
            </a:r>
            <a:endParaRPr lang="en-US" altLang="zh-CN" sz="1400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5252775" y="3520666"/>
                <a:ext cx="58984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2775" y="3520666"/>
                <a:ext cx="589841" cy="246221"/>
              </a:xfrm>
              <a:prstGeom prst="rect">
                <a:avLst/>
              </a:prstGeom>
              <a:blipFill rotWithShape="0">
                <a:blip r:embed="rId48"/>
                <a:stretch>
                  <a:fillRect l="-8333" r="-7292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5155115" y="4100412"/>
                <a:ext cx="1157945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5115" y="4100412"/>
                <a:ext cx="1157945" cy="246221"/>
              </a:xfrm>
              <a:prstGeom prst="rect">
                <a:avLst/>
              </a:prstGeom>
              <a:blipFill rotWithShape="0">
                <a:blip r:embed="rId49"/>
                <a:stretch>
                  <a:fillRect l="-3684"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6485213" y="4048079"/>
                <a:ext cx="2371355" cy="3506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CN" sz="16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𝑠𝑖𝑔</m:t>
                                  </m:r>
                                  <m:r>
                                    <a:rPr lang="en-US" altLang="zh-C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zh-CN" altLang="en-US" sz="1600" b="0" i="1" smtClean="0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𝑠𝑝</m:t>
                                  </m:r>
                                </m:sub>
                                <m:sup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1/2</m:t>
                          </m:r>
                        </m:sup>
                      </m:sSup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213" y="4048079"/>
                <a:ext cx="2371355" cy="350673"/>
              </a:xfrm>
              <a:prstGeom prst="rect">
                <a:avLst/>
              </a:prstGeom>
              <a:blipFill rotWithShape="0">
                <a:blip r:embed="rId50"/>
                <a:stretch>
                  <a:fillRect l="-771" t="-1724" r="-257" b="-206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本框 45"/>
              <p:cNvSpPr txBox="1"/>
              <p:nvPr/>
            </p:nvSpPr>
            <p:spPr>
              <a:xfrm>
                <a:off x="6485213" y="3528937"/>
                <a:ext cx="1076385" cy="2652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𝑠𝑝</m:t>
                          </m:r>
                        </m:sub>
                      </m:sSub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6" name="文本框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213" y="3528937"/>
                <a:ext cx="1076385" cy="265201"/>
              </a:xfrm>
              <a:prstGeom prst="rect">
                <a:avLst/>
              </a:prstGeom>
              <a:blipFill rotWithShape="0">
                <a:blip r:embed="rId51"/>
                <a:stretch>
                  <a:fillRect l="-2273" r="-1705" b="-23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矩形 46"/>
              <p:cNvSpPr/>
              <p:nvPr/>
            </p:nvSpPr>
            <p:spPr>
              <a:xfrm>
                <a:off x="400133" y="2990823"/>
                <a:ext cx="6896055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给定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𝑄</m:t>
                    </m:r>
                  </m:oMath>
                </a14:m>
                <a:r>
                  <a:rPr lang="zh-CN" altLang="en-US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因子</a:t>
                </a:r>
                <a:r>
                  <a:rPr lang="en-US" altLang="zh-CN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(</a:t>
                </a:r>
                <a:r>
                  <a:rPr lang="zh-CN" altLang="en-US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系统误码率要求</a:t>
                </a:r>
                <a:r>
                  <a:rPr lang="en-US" altLang="zh-CN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)</a:t>
                </a:r>
                <a:r>
                  <a:rPr lang="zh-CN" altLang="en-US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，求最小接收机</a:t>
                </a:r>
                <a:r>
                  <a:rPr lang="zh-CN" altLang="en-US" sz="1600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平均</a:t>
                </a:r>
                <a:r>
                  <a:rPr lang="zh-CN" altLang="en-US" sz="1600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光功率（接收机灵敏度）</a:t>
                </a:r>
                <a:endParaRPr lang="zh-CN" altLang="en-US" sz="1600" dirty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7" name="矩形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133" y="2990823"/>
                <a:ext cx="6896055" cy="338554"/>
              </a:xfrm>
              <a:prstGeom prst="rect">
                <a:avLst/>
              </a:prstGeom>
              <a:blipFill rotWithShape="0">
                <a:blip r:embed="rId52"/>
                <a:stretch>
                  <a:fillRect l="-531" t="-7273" b="-2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/>
              <p:cNvSpPr txBox="1"/>
              <p:nvPr/>
            </p:nvSpPr>
            <p:spPr>
              <a:xfrm>
                <a:off x="7023405" y="4416052"/>
                <a:ext cx="693523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？？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zh-CN" altLang="en-US" sz="1400" i="1" baseline="-25000" dirty="0">
                  <a:solidFill>
                    <a:srgbClr val="FF0000"/>
                  </a:solidFill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0" name="文本框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3405" y="4416052"/>
                <a:ext cx="693523" cy="307777"/>
              </a:xfrm>
              <a:prstGeom prst="rect">
                <a:avLst/>
              </a:prstGeom>
              <a:blipFill rotWithShape="0">
                <a:blip r:embed="rId53"/>
                <a:stretch>
                  <a:fillRect l="-2632" t="-3922" b="-176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7627289" y="3469070"/>
                <a:ext cx="1476365" cy="495649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𝐴𝑆𝐸</m:t>
                          </m:r>
                        </m:sub>
                      </m:sSub>
                      <m:r>
                        <a:rPr lang="en-US" altLang="zh-CN" sz="1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US" altLang="zh-CN" sz="1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𝐺h</m:t>
                      </m:r>
                      <m:sSub>
                        <m:sSubPr>
                          <m:ctrlP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CN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7289" y="3469070"/>
                <a:ext cx="1476365" cy="495649"/>
              </a:xfrm>
              <a:prstGeom prst="rect">
                <a:avLst/>
              </a:prstGeom>
              <a:blipFill rotWithShape="0">
                <a:blip r:embed="rId54"/>
                <a:stretch>
                  <a:fillRect b="-246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/>
              <p:cNvSpPr txBox="1"/>
              <p:nvPr/>
            </p:nvSpPr>
            <p:spPr>
              <a:xfrm>
                <a:off x="460375" y="4833831"/>
                <a:ext cx="3679405" cy="6544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600" b="0" i="1" dirty="0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den>
                                  </m:f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59" name="文本框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75" y="4833831"/>
                <a:ext cx="3679405" cy="654475"/>
              </a:xfrm>
              <a:prstGeom prst="rect">
                <a:avLst/>
              </a:prstGeom>
              <a:blipFill rotWithShape="0">
                <a:blip r:embed="rId5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右箭头 59"/>
          <p:cNvSpPr/>
          <p:nvPr/>
        </p:nvSpPr>
        <p:spPr>
          <a:xfrm>
            <a:off x="4139780" y="5089708"/>
            <a:ext cx="1310824" cy="279116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矩形 60"/>
              <p:cNvSpPr/>
              <p:nvPr/>
            </p:nvSpPr>
            <p:spPr>
              <a:xfrm>
                <a:off x="4095366" y="4789440"/>
                <a:ext cx="99341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altLang="zh-C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altLang="zh-CN" sz="14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14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r>
                            <a:rPr lang="en-US" altLang="zh-CN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1" name="矩形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366" y="4789440"/>
                <a:ext cx="993413" cy="307777"/>
              </a:xfrm>
              <a:prstGeom prst="rect">
                <a:avLst/>
              </a:prstGeom>
              <a:blipFill rotWithShape="0">
                <a:blip r:embed="rId58"/>
                <a:stretch>
                  <a:fillRect t="-96000" r="-33742" b="-156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矩形 61"/>
              <p:cNvSpPr/>
              <p:nvPr/>
            </p:nvSpPr>
            <p:spPr>
              <a:xfrm>
                <a:off x="4095233" y="5342065"/>
                <a:ext cx="1355371" cy="3283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𝑟𝑒𝑐</m:t>
                          </m:r>
                        </m:sub>
                      </m:sSub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sz="1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acc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h</m:t>
                      </m:r>
                      <m:sSub>
                        <m:sSubPr>
                          <m:ctrlP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1400" i="1" dirty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altLang="zh-CN" sz="14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62" name="矩形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5233" y="5342065"/>
                <a:ext cx="1355371" cy="328360"/>
              </a:xfrm>
              <a:prstGeom prst="rect">
                <a:avLst/>
              </a:prstGeom>
              <a:blipFill rotWithShape="0"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文本框 62"/>
              <p:cNvSpPr txBox="1"/>
              <p:nvPr/>
            </p:nvSpPr>
            <p:spPr>
              <a:xfrm>
                <a:off x="5580994" y="4902028"/>
                <a:ext cx="3177729" cy="65447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600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6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acc>
                      <m:r>
                        <a:rPr lang="en-US" altLang="zh-CN" sz="16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sSup>
                            <m:sSupPr>
                              <m:ctrlP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type m:val="lin"/>
                                      <m:ctrlP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m:rPr>
                                          <m:sty m:val="p"/>
                                        </m:rPr>
                                        <a:rPr lang="el-GR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Δ</m:t>
                                      </m:r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𝑓</m:t>
                                      </m:r>
                                    </m:den>
                                  </m:f>
                                  <m:r>
                                    <a:rPr lang="en-US" altLang="zh-CN" sz="16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zh-CN" sz="16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1/2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3" name="文本框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994" y="4902028"/>
                <a:ext cx="3177729" cy="654475"/>
              </a:xfrm>
              <a:prstGeom prst="rect">
                <a:avLst/>
              </a:prstGeom>
              <a:blipFill rotWithShape="0">
                <a:blip r:embed="rId6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5" name="直接连接符 64"/>
          <p:cNvCxnSpPr>
            <a:stCxn id="54" idx="0"/>
          </p:cNvCxnSpPr>
          <p:nvPr/>
        </p:nvCxnSpPr>
        <p:spPr>
          <a:xfrm flipV="1">
            <a:off x="7064949" y="2939257"/>
            <a:ext cx="0" cy="503600"/>
          </a:xfrm>
          <a:prstGeom prst="line">
            <a:avLst/>
          </a:prstGeom>
          <a:ln w="635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/>
          <p:cNvCxnSpPr/>
          <p:nvPr/>
        </p:nvCxnSpPr>
        <p:spPr>
          <a:xfrm flipH="1">
            <a:off x="2087408" y="2959293"/>
            <a:ext cx="4977541" cy="0"/>
          </a:xfrm>
          <a:prstGeom prst="line">
            <a:avLst/>
          </a:prstGeom>
          <a:ln w="635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接箭头连接符 68"/>
          <p:cNvCxnSpPr/>
          <p:nvPr/>
        </p:nvCxnSpPr>
        <p:spPr>
          <a:xfrm flipV="1">
            <a:off x="2087408" y="2353883"/>
            <a:ext cx="0" cy="636940"/>
          </a:xfrm>
          <a:prstGeom prst="straightConnector1">
            <a:avLst/>
          </a:prstGeom>
          <a:ln w="635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471616" y="5812596"/>
            <a:ext cx="51475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计算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Q=6,Fn=2,Bo/</a:t>
            </a:r>
            <a:r>
              <a:rPr lang="el-GR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Δ</a:t>
            </a:r>
            <a:r>
              <a:rPr lang="en-US" altLang="zh-CN" dirty="0" smtClean="0">
                <a:latin typeface="黑体" panose="02010609060101010101" pitchFamily="49" charset="-122"/>
                <a:ea typeface="黑体" panose="02010609060101010101" pitchFamily="49" charset="-122"/>
              </a:rPr>
              <a:t>f=2</a:t>
            </a:r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条件下的光子数灵敏度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3345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>
            <a:grpSpLocks/>
          </p:cNvGrpSpPr>
          <p:nvPr/>
        </p:nvGrpSpPr>
        <p:grpSpPr bwMode="auto">
          <a:xfrm>
            <a:off x="107950" y="44450"/>
            <a:ext cx="4240185" cy="884238"/>
            <a:chOff x="0" y="0"/>
            <a:chExt cx="6678" cy="1392"/>
          </a:xfrm>
        </p:grpSpPr>
        <p:sp>
          <p:nvSpPr>
            <p:cNvPr id="5" name="文本框 6"/>
            <p:cNvSpPr txBox="1">
              <a:spLocks noChangeArrowheads="1"/>
            </p:cNvSpPr>
            <p:nvPr/>
          </p:nvSpPr>
          <p:spPr bwMode="auto">
            <a:xfrm>
              <a:off x="0" y="0"/>
              <a:ext cx="2041" cy="1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5200" b="1" dirty="0" smtClean="0">
                  <a:solidFill>
                    <a:srgbClr val="136489"/>
                  </a:solidFill>
                  <a:latin typeface="Arial Black" panose="020B0A040201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5200" b="1" dirty="0">
                <a:solidFill>
                  <a:srgbClr val="136489"/>
                </a:solidFill>
                <a:latin typeface="Arial Black" panose="020B0A040201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8"/>
            <p:cNvSpPr txBox="1">
              <a:spLocks noChangeArrowheads="1"/>
            </p:cNvSpPr>
            <p:nvPr/>
          </p:nvSpPr>
          <p:spPr bwMode="auto">
            <a:xfrm>
              <a:off x="1678" y="226"/>
              <a:ext cx="5000" cy="7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>
              <a:lvl1pPr>
                <a:spcBef>
                  <a:spcPts val="1800"/>
                </a:spcBef>
                <a:buChar char="•"/>
                <a:defRPr sz="20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Font typeface="Calibri" panose="020F0502020204030204" pitchFamily="34" charset="0"/>
                <a:buChar char=" "/>
                <a:defRPr sz="1600">
                  <a:solidFill>
                    <a:srgbClr val="7F7F7F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2pPr>
              <a:lvl3pPr marL="1143000" indent="-228600">
                <a:spcBef>
                  <a:spcPct val="20000"/>
                </a:spcBef>
                <a:buFont typeface="Calibri" panose="020F0502020204030204" pitchFamily="34" charset="0"/>
                <a:buChar char="•"/>
                <a:defRPr sz="16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3pPr>
              <a:lvl4pPr marL="1600200" indent="-228600">
                <a:spcBef>
                  <a:spcPct val="20000"/>
                </a:spcBef>
                <a:buFont typeface="Calibri" panose="020F0502020204030204" pitchFamily="34" charset="0"/>
                <a:buChar char="–"/>
                <a:defRPr sz="14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4pPr>
              <a:lvl5pPr marL="2057400" indent="-228600">
                <a:spcBef>
                  <a:spcPct val="20000"/>
                </a:spcBef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Calibri" panose="020F0502020204030204" pitchFamily="34" charset="0"/>
                <a:buChar char="»"/>
                <a:defRPr sz="1200">
                  <a:solidFill>
                    <a:schemeClr val="accent1"/>
                  </a:solidFill>
                  <a:latin typeface="Calibri" panose="020F0502020204030204" pitchFamily="34" charset="0"/>
                  <a:ea typeface="幼圆" panose="02010509060101010101" pitchFamily="49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300" b="1" dirty="0" smtClean="0">
                  <a:solidFill>
                    <a:srgbClr val="13648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量子噪声极限灵敏度</a:t>
              </a:r>
              <a:endParaRPr lang="zh-CN" altLang="en-US" sz="2300" b="1" dirty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7" name="MH_Text_3"/>
          <p:cNvSpPr txBox="1">
            <a:spLocks noChangeArrowheads="1"/>
          </p:cNvSpPr>
          <p:nvPr/>
        </p:nvSpPr>
        <p:spPr bwMode="auto">
          <a:xfrm>
            <a:off x="939856" y="834675"/>
            <a:ext cx="6722185" cy="410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400" b="1" dirty="0" smtClean="0">
                <a:solidFill>
                  <a:schemeClr val="tx1"/>
                </a:solidFill>
                <a:latin typeface="幼圆" panose="02010509060101010101" pitchFamily="49" charset="-122"/>
                <a:ea typeface="微软雅黑" panose="020B0503020204020204" pitchFamily="34" charset="-122"/>
                <a:sym typeface="Arial" panose="020B0604020202020204" pitchFamily="34" charset="0"/>
              </a:rPr>
              <a:t>仅考虑光信号探测过程中散粒噪声，表现为入射光转化为电子空穴对时的量子起伏</a:t>
            </a:r>
            <a:endParaRPr lang="en-US" altLang="zh-CN" sz="1400" b="1" dirty="0" smtClean="0">
              <a:solidFill>
                <a:schemeClr val="tx1"/>
              </a:solidFill>
              <a:latin typeface="幼圆" panose="02010509060101010101" pitchFamily="49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939856" y="1454876"/>
                <a:ext cx="7659858" cy="146783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系统模型：无热噪声</a:t>
                </a:r>
                <a:r>
                  <a:rPr lang="en-US" altLang="zh-CN" sz="14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/</a:t>
                </a:r>
                <a:r>
                  <a:rPr lang="zh-CN" altLang="en-US" sz="14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暗电流，光噪声及拍频噪声</a:t>
                </a:r>
                <a:endParaRPr lang="en-US" altLang="zh-CN" sz="1400" b="1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‘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0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’码元：无光子，因此无产生电子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-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空穴对的可能性，也不引起误判</a:t>
                </a:r>
                <a:endParaRPr lang="en-US" altLang="zh-CN" sz="1400" dirty="0" smtClean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‘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’码元：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𝑁</m:t>
                        </m:r>
                      </m:e>
                      <m:sub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𝑝</m:t>
                        </m:r>
                      </m:sub>
                    </m:sSub>
                    <m:r>
                      <a:rPr lang="zh-CN" altLang="en-US" sz="14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表示</m:t>
                    </m:r>
                  </m:oMath>
                </a14:m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比特的平均光子数，则产生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m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个电子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-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空穴对的概率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符合泊松分布：</a:t>
                </a:r>
                <a:endParaRPr lang="en-US" altLang="zh-CN" sz="1400" dirty="0" smtClean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400" dirty="0" smtClean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56" y="1454876"/>
                <a:ext cx="7659858" cy="1467838"/>
              </a:xfrm>
              <a:prstGeom prst="rect">
                <a:avLst/>
              </a:prstGeom>
              <a:blipFill rotWithShape="0">
                <a:blip r:embed="rId2"/>
                <a:stretch>
                  <a:fillRect l="-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/>
              <p:cNvSpPr txBox="1"/>
              <p:nvPr/>
            </p:nvSpPr>
            <p:spPr>
              <a:xfrm>
                <a:off x="2896012" y="2487507"/>
                <a:ext cx="2364686" cy="3181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en-US" altLang="zh-CN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6012" y="2487507"/>
                <a:ext cx="2364686" cy="318164"/>
              </a:xfrm>
              <a:prstGeom prst="rect">
                <a:avLst/>
              </a:prstGeom>
              <a:blipFill rotWithShape="0">
                <a:blip r:embed="rId3"/>
                <a:stretch>
                  <a:fillRect l="-1804" r="-2062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939856" y="3047691"/>
                <a:ext cx="7659858" cy="1801134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400" b="1" dirty="0" smtClean="0">
                    <a:latin typeface="黑体" panose="02010609060101010101" pitchFamily="49" charset="-122"/>
                    <a:ea typeface="黑体" panose="02010609060101010101" pitchFamily="49" charset="-122"/>
                  </a:rPr>
                  <a:t>误码率</a:t>
                </a:r>
                <a:endParaRPr lang="en-US" altLang="zh-CN" sz="1400" b="1" dirty="0" smtClean="0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从上面公式可以看到，在接收‘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’码元，存在不产生的电子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-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空穴对的可能，其概率为</a:t>
                </a:r>
                <a:endParaRPr lang="en-US" altLang="zh-CN" sz="1400" dirty="0" smtClean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CN" sz="1400" dirty="0" smtClean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系统误码率</a:t>
                </a:r>
                <a:r>
                  <a:rPr lang="zh-CN" altLang="en-US" sz="14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可表示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200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BER</m:t>
                    </m:r>
                    <m:r>
                      <a:rPr lang="en-US" altLang="zh-CN" sz="120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sz="12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2</m:t>
                        </m:r>
                      </m:den>
                    </m:f>
                    <m:r>
                      <a:rPr lang="en-US" altLang="zh-CN" sz="1400" i="1">
                        <a:latin typeface="Cambria Math" panose="02040503050406030204" pitchFamily="18" charset="0"/>
                      </a:rPr>
                      <m:t>𝑒𝑥𝑝</m:t>
                    </m:r>
                    <m:d>
                      <m:d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sz="1400" dirty="0" smtClean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对于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BER&lt;10</a:t>
                </a:r>
                <a:r>
                  <a:rPr lang="en-US" altLang="zh-CN" sz="1400" baseline="300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-9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,</a:t>
                </a:r>
                <a:r>
                  <a:rPr lang="en-US" altLang="zh-CN" sz="1400" dirty="0">
                    <a:ea typeface="仿宋" panose="02010609060101010101" pitchFamily="49" charset="-122"/>
                  </a:rPr>
                  <a:t> 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要求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𝑁</m:t>
                        </m:r>
                      </m:e>
                      <m:sub>
                        <m:r>
                          <a:rPr lang="en-US" altLang="zh-CN" sz="14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必须超过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20</a:t>
                </a:r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，系统单比特的平均光子数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140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140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𝑃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大于</a:t>
                </a:r>
                <a:r>
                  <a:rPr lang="en-US" altLang="zh-CN" sz="1400" dirty="0" smtClean="0">
                    <a:latin typeface="仿宋" panose="02010609060101010101" pitchFamily="49" charset="-122"/>
                    <a:ea typeface="仿宋" panose="02010609060101010101" pitchFamily="49" charset="-122"/>
                  </a:rPr>
                  <a:t>10.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56" y="3047691"/>
                <a:ext cx="7659858" cy="1801134"/>
              </a:xfrm>
              <a:prstGeom prst="rect">
                <a:avLst/>
              </a:prstGeom>
              <a:blipFill rotWithShape="0">
                <a:blip r:embed="rId4"/>
                <a:stretch>
                  <a:fillRect l="-1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3404013" y="3806841"/>
                <a:ext cx="1729128" cy="2828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16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𝑒𝑥𝑝</m:t>
                      </m:r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013" y="3806841"/>
                <a:ext cx="1729128" cy="282834"/>
              </a:xfrm>
              <a:prstGeom prst="rect">
                <a:avLst/>
              </a:prstGeom>
              <a:blipFill rotWithShape="0">
                <a:blip r:embed="rId5"/>
                <a:stretch>
                  <a:fillRect l="-352" b="-1914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939856" y="4973802"/>
            <a:ext cx="7659858" cy="106182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思考：</a:t>
            </a:r>
            <a:endParaRPr lang="en-US" altLang="zh-CN" sz="14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 smtClean="0">
                <a:latin typeface="仿宋" panose="02010609060101010101" pitchFamily="49" charset="-122"/>
                <a:ea typeface="仿宋" panose="02010609060101010101" pitchFamily="49" charset="-122"/>
              </a:rPr>
              <a:t>上述光子数的平均光功率极低，为什么可忽略热噪声呢</a:t>
            </a:r>
            <a:endParaRPr lang="en-US" altLang="zh-CN" sz="14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 smtClean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3344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8"/>
          <p:cNvSpPr txBox="1">
            <a:spLocks noChangeArrowheads="1"/>
          </p:cNvSpPr>
          <p:nvPr/>
        </p:nvSpPr>
        <p:spPr bwMode="auto">
          <a:xfrm>
            <a:off x="886523" y="2214282"/>
            <a:ext cx="7444827" cy="1480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ts val="1800"/>
              </a:spcBef>
              <a:buChar char="•"/>
              <a:defRPr sz="20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1pPr>
            <a:lvl2pPr marL="742950" indent="-285750">
              <a:spcBef>
                <a:spcPct val="20000"/>
              </a:spcBef>
              <a:buFont typeface="Calibri" panose="020F0502020204030204" pitchFamily="34" charset="0"/>
              <a:buChar char=" "/>
              <a:defRPr sz="1600">
                <a:solidFill>
                  <a:srgbClr val="7F7F7F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2pPr>
            <a:lvl3pPr marL="1143000" indent="-228600">
              <a:spcBef>
                <a:spcPct val="20000"/>
              </a:spcBef>
              <a:buFont typeface="Calibri" panose="020F0502020204030204" pitchFamily="34" charset="0"/>
              <a:buChar char="•"/>
              <a:defRPr sz="16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3pPr>
            <a:lvl4pPr marL="1600200" indent="-228600">
              <a:spcBef>
                <a:spcPct val="20000"/>
              </a:spcBef>
              <a:buFont typeface="Calibri" panose="020F0502020204030204" pitchFamily="34" charset="0"/>
              <a:buChar char="–"/>
              <a:defRPr sz="14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4pPr>
            <a:lvl5pPr marL="2057400" indent="-228600">
              <a:spcBef>
                <a:spcPct val="20000"/>
              </a:spcBef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Calibri" panose="020F0502020204030204" pitchFamily="34" charset="0"/>
              <a:buChar char="»"/>
              <a:defRPr sz="1200">
                <a:solidFill>
                  <a:schemeClr val="accent1"/>
                </a:solidFill>
                <a:latin typeface="Calibri" panose="020F0502020204030204" pitchFamily="34" charset="0"/>
                <a:ea typeface="幼圆" panose="02010509060101010101" pitchFamily="49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3600" b="1" dirty="0" smtClean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</a:t>
            </a:r>
            <a:endParaRPr lang="en-US" altLang="zh-CN" sz="3600" b="1" dirty="0" smtClean="0">
              <a:solidFill>
                <a:srgbClr val="1364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endParaRPr lang="en-US" altLang="zh-CN" sz="3600" b="1" dirty="0">
              <a:solidFill>
                <a:srgbClr val="1364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buNone/>
            </a:pPr>
            <a:r>
              <a:rPr lang="zh-CN" altLang="en-US" sz="3600" b="1" dirty="0" smtClean="0">
                <a:solidFill>
                  <a:srgbClr val="13648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 位 老 师</a:t>
            </a:r>
            <a:endParaRPr lang="zh-CN" altLang="en-US" sz="3600" b="1" dirty="0">
              <a:solidFill>
                <a:srgbClr val="13648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013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6147</TotalTime>
  <Words>558</Words>
  <Application>Microsoft Office PowerPoint</Application>
  <PresentationFormat>全屏显示(4:3)</PresentationFormat>
  <Paragraphs>206</Paragraphs>
  <Slides>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DFKai-SB</vt:lpstr>
      <vt:lpstr>仿宋</vt:lpstr>
      <vt:lpstr>黑体</vt:lpstr>
      <vt:lpstr>宋体</vt:lpstr>
      <vt:lpstr>微软雅黑</vt:lpstr>
      <vt:lpstr>幼圆</vt:lpstr>
      <vt:lpstr>Arial</vt:lpstr>
      <vt:lpstr>Arial Black</vt:lpstr>
      <vt:lpstr>Calibri</vt:lpstr>
      <vt:lpstr>Calibri Light</vt:lpstr>
      <vt:lpstr>Cambria Math</vt:lpstr>
      <vt:lpstr>Office 主题</vt:lpstr>
      <vt:lpstr>PowerPoint 演示文稿</vt:lpstr>
      <vt:lpstr>现代光通信系统（研究生课程）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晋升岗位申请 工作汇报</dc:title>
  <dc:creator>Tank</dc:creator>
  <cp:lastModifiedBy>lenovo</cp:lastModifiedBy>
  <cp:revision>464</cp:revision>
  <dcterms:created xsi:type="dcterms:W3CDTF">2016-12-09T08:24:23Z</dcterms:created>
  <dcterms:modified xsi:type="dcterms:W3CDTF">2020-05-15T08:06:18Z</dcterms:modified>
</cp:coreProperties>
</file>